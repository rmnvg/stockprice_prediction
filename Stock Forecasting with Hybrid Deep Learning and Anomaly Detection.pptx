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y="5143500" cx="9144000"/>
  <p:notesSz cx="6858000" cy="9144000"/>
  <p:embeddedFontLst>
    <p:embeddedFont>
      <p:font typeface="Montserrat"/>
      <p:regular r:id="rId26"/>
      <p:bold r:id="rId27"/>
      <p:italic r:id="rId28"/>
      <p:boldItalic r:id="rId29"/>
    </p:embeddedFont>
    <p:embeddedFont>
      <p:font typeface="Lato"/>
      <p:regular r:id="rId30"/>
      <p:bold r:id="rId31"/>
      <p:italic r:id="rId32"/>
      <p:boldItalic r:id="rId33"/>
    </p:embeddedFont>
    <p:embeddedFont>
      <p:font typeface="Roboto Mono"/>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34E3C39-5444-435C-871D-0D581668D085}">
  <a:tblStyle styleId="{934E3C39-5444-435C-871D-0D581668D08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Montserrat-regular.fntdata"/><Relationship Id="rId25" Type="http://schemas.openxmlformats.org/officeDocument/2006/relationships/slide" Target="slides/slide18.xml"/><Relationship Id="rId28" Type="http://schemas.openxmlformats.org/officeDocument/2006/relationships/font" Target="fonts/Montserrat-italic.fntdata"/><Relationship Id="rId27" Type="http://schemas.openxmlformats.org/officeDocument/2006/relationships/font" Target="fonts/Montserrat-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Montserrat-boldItalic.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Lato-bold.fntdata"/><Relationship Id="rId30" Type="http://schemas.openxmlformats.org/officeDocument/2006/relationships/font" Target="fonts/Lato-regular.fntdata"/><Relationship Id="rId11" Type="http://schemas.openxmlformats.org/officeDocument/2006/relationships/slide" Target="slides/slide4.xml"/><Relationship Id="rId33" Type="http://schemas.openxmlformats.org/officeDocument/2006/relationships/font" Target="fonts/Lato-boldItalic.fntdata"/><Relationship Id="rId10" Type="http://schemas.openxmlformats.org/officeDocument/2006/relationships/slide" Target="slides/slide3.xml"/><Relationship Id="rId32" Type="http://schemas.openxmlformats.org/officeDocument/2006/relationships/font" Target="fonts/Lato-italic.fntdata"/><Relationship Id="rId13" Type="http://schemas.openxmlformats.org/officeDocument/2006/relationships/slide" Target="slides/slide6.xml"/><Relationship Id="rId35" Type="http://schemas.openxmlformats.org/officeDocument/2006/relationships/font" Target="fonts/RobotoMono-bold.fntdata"/><Relationship Id="rId12" Type="http://schemas.openxmlformats.org/officeDocument/2006/relationships/slide" Target="slides/slide5.xml"/><Relationship Id="rId34" Type="http://schemas.openxmlformats.org/officeDocument/2006/relationships/font" Target="fonts/RobotoMono-regular.fntdata"/><Relationship Id="rId15" Type="http://schemas.openxmlformats.org/officeDocument/2006/relationships/slide" Target="slides/slide8.xml"/><Relationship Id="rId37" Type="http://schemas.openxmlformats.org/officeDocument/2006/relationships/font" Target="fonts/RobotoMono-boldItalic.fntdata"/><Relationship Id="rId14" Type="http://schemas.openxmlformats.org/officeDocument/2006/relationships/slide" Target="slides/slide7.xml"/><Relationship Id="rId36" Type="http://schemas.openxmlformats.org/officeDocument/2006/relationships/font" Target="fonts/RobotoMono-italic.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5a9a74b04e_2_12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g35a9a74b04e_2_1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5a9a74b04e_2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g35a9a74b04e_2_1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5a9a74b04e_2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g35a9a74b04e_2_1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5a9a74b04e_2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 name="Google Shape;195;g35a9a74b04e_2_1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5a9a74b04e_2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g35a9a74b04e_2_1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5a9a74b04e_2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 name="Google Shape;206;g35a9a74b04e_2_1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5a249626b8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5a249626b8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5a9a74b04e_2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g35a9a74b04e_2_1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5a9a74b04e_2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 name="Google Shape;223;g35a9a74b04e_2_1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5a9a74b04e_2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 name="Google Shape;229;g35a9a74b04e_2_1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5a249626b8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g35a249626b8_1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5a9a74b04e_2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 name="Google Shape;241;g35a9a74b04e_2_1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5a9a74b04e_2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7" name="Google Shape;247;g35a9a74b04e_2_1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5a9a74b04e_2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g35a9a74b04e_2_2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5a9a74b04e_2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 name="Google Shape;262;g35a9a74b04e_2_2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5a9a74b04e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5a9a74b04e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5a9a74b04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5a9a74b04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5a249626b8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5a249626b8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p:nvPr/>
        </p:nvSpPr>
        <p:spPr>
          <a:xfrm rot="5400000">
            <a:off x="7500300" y="505"/>
            <a:ext cx="1643700" cy="1643700"/>
          </a:xfrm>
          <a:prstGeom prst="diagStripe">
            <a:avLst>
              <a:gd fmla="val 0" name="adj"/>
            </a:avLst>
          </a:prstGeom>
          <a:solidFill>
            <a:schemeClr val="lt1">
              <a:alpha val="274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6" name="Google Shape;56;p14"/>
          <p:cNvGrpSpPr/>
          <p:nvPr/>
        </p:nvGrpSpPr>
        <p:grpSpPr>
          <a:xfrm>
            <a:off x="0" y="490"/>
            <a:ext cx="5153705" cy="5134399"/>
            <a:chOff x="0" y="75"/>
            <a:chExt cx="5153705" cy="5152950"/>
          </a:xfrm>
        </p:grpSpPr>
        <p:sp>
          <p:nvSpPr>
            <p:cNvPr id="57" name="Google Shape;57;p14"/>
            <p:cNvSpPr/>
            <p:nvPr/>
          </p:nvSpPr>
          <p:spPr>
            <a:xfrm rot="-5400000">
              <a:off x="455" y="-225"/>
              <a:ext cx="5152800" cy="5153700"/>
            </a:xfrm>
            <a:prstGeom prst="diagStripe">
              <a:avLst>
                <a:gd fmla="val 50000" name="adj"/>
              </a:avLst>
            </a:prstGeom>
            <a:solidFill>
              <a:schemeClr val="lt1">
                <a:alpha val="274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14"/>
            <p:cNvSpPr/>
            <p:nvPr/>
          </p:nvSpPr>
          <p:spPr>
            <a:xfrm rot="-5400000">
              <a:off x="150" y="1145825"/>
              <a:ext cx="3996600" cy="3996900"/>
            </a:xfrm>
            <a:prstGeom prst="diagStripe">
              <a:avLst>
                <a:gd fmla="val 58774" name="adj"/>
              </a:avLst>
            </a:prstGeom>
            <a:solidFill>
              <a:schemeClr val="lt1">
                <a:alpha val="274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14"/>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14"/>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1" name="Google Shape;61;p14"/>
          <p:cNvSpPr txBox="1"/>
          <p:nvPr>
            <p:ph type="ctrTitle"/>
          </p:nvPr>
        </p:nvSpPr>
        <p:spPr>
          <a:xfrm>
            <a:off x="3537150" y="1578400"/>
            <a:ext cx="5017500" cy="1578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000"/>
              <a:buNone/>
              <a:defRPr sz="4000"/>
            </a:lvl1pPr>
            <a:lvl2pPr lvl="1" algn="l">
              <a:lnSpc>
                <a:spcPct val="100000"/>
              </a:lnSpc>
              <a:spcBef>
                <a:spcPts val="0"/>
              </a:spcBef>
              <a:spcAft>
                <a:spcPts val="0"/>
              </a:spcAft>
              <a:buSzPts val="4000"/>
              <a:buNone/>
              <a:defRPr sz="4000"/>
            </a:lvl2pPr>
            <a:lvl3pPr lvl="2" algn="l">
              <a:lnSpc>
                <a:spcPct val="100000"/>
              </a:lnSpc>
              <a:spcBef>
                <a:spcPts val="0"/>
              </a:spcBef>
              <a:spcAft>
                <a:spcPts val="0"/>
              </a:spcAft>
              <a:buSzPts val="4000"/>
              <a:buNone/>
              <a:defRPr sz="4000"/>
            </a:lvl3pPr>
            <a:lvl4pPr lvl="3" algn="l">
              <a:lnSpc>
                <a:spcPct val="100000"/>
              </a:lnSpc>
              <a:spcBef>
                <a:spcPts val="0"/>
              </a:spcBef>
              <a:spcAft>
                <a:spcPts val="0"/>
              </a:spcAft>
              <a:buSzPts val="4000"/>
              <a:buNone/>
              <a:defRPr sz="4000"/>
            </a:lvl4pPr>
            <a:lvl5pPr lvl="4" algn="l">
              <a:lnSpc>
                <a:spcPct val="100000"/>
              </a:lnSpc>
              <a:spcBef>
                <a:spcPts val="0"/>
              </a:spcBef>
              <a:spcAft>
                <a:spcPts val="0"/>
              </a:spcAft>
              <a:buSzPts val="4000"/>
              <a:buNone/>
              <a:defRPr sz="4000"/>
            </a:lvl5pPr>
            <a:lvl6pPr lvl="5" algn="l">
              <a:lnSpc>
                <a:spcPct val="100000"/>
              </a:lnSpc>
              <a:spcBef>
                <a:spcPts val="0"/>
              </a:spcBef>
              <a:spcAft>
                <a:spcPts val="0"/>
              </a:spcAft>
              <a:buSzPts val="4000"/>
              <a:buNone/>
              <a:defRPr sz="4000"/>
            </a:lvl6pPr>
            <a:lvl7pPr lvl="6" algn="l">
              <a:lnSpc>
                <a:spcPct val="100000"/>
              </a:lnSpc>
              <a:spcBef>
                <a:spcPts val="0"/>
              </a:spcBef>
              <a:spcAft>
                <a:spcPts val="0"/>
              </a:spcAft>
              <a:buSzPts val="4000"/>
              <a:buNone/>
              <a:defRPr sz="4000"/>
            </a:lvl7pPr>
            <a:lvl8pPr lvl="7" algn="l">
              <a:lnSpc>
                <a:spcPct val="100000"/>
              </a:lnSpc>
              <a:spcBef>
                <a:spcPts val="0"/>
              </a:spcBef>
              <a:spcAft>
                <a:spcPts val="0"/>
              </a:spcAft>
              <a:buSzPts val="4000"/>
              <a:buNone/>
              <a:defRPr sz="4000"/>
            </a:lvl8pPr>
            <a:lvl9pPr lvl="8" algn="l">
              <a:lnSpc>
                <a:spcPct val="100000"/>
              </a:lnSpc>
              <a:spcBef>
                <a:spcPts val="0"/>
              </a:spcBef>
              <a:spcAft>
                <a:spcPts val="0"/>
              </a:spcAft>
              <a:buSzPts val="4000"/>
              <a:buNone/>
              <a:defRPr sz="4000"/>
            </a:lvl9pPr>
          </a:lstStyle>
          <a:p/>
        </p:txBody>
      </p:sp>
      <p:sp>
        <p:nvSpPr>
          <p:cNvPr id="62" name="Google Shape;62;p14"/>
          <p:cNvSpPr txBox="1"/>
          <p:nvPr>
            <p:ph idx="1" type="subTitle"/>
          </p:nvPr>
        </p:nvSpPr>
        <p:spPr>
          <a:xfrm>
            <a:off x="5083950" y="3924925"/>
            <a:ext cx="3470700" cy="50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p:txBody>
      </p:sp>
      <p:sp>
        <p:nvSpPr>
          <p:cNvPr id="63" name="Google Shape;63;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4" name="Shape 64"/>
        <p:cNvGrpSpPr/>
        <p:nvPr/>
      </p:nvGrpSpPr>
      <p:grpSpPr>
        <a:xfrm>
          <a:off x="0" y="0"/>
          <a:ext cx="0" cy="0"/>
          <a:chOff x="0" y="0"/>
          <a:chExt cx="0" cy="0"/>
        </a:xfrm>
      </p:grpSpPr>
      <p:grpSp>
        <p:nvGrpSpPr>
          <p:cNvPr id="65" name="Google Shape;65;p15"/>
          <p:cNvGrpSpPr/>
          <p:nvPr/>
        </p:nvGrpSpPr>
        <p:grpSpPr>
          <a:xfrm>
            <a:off x="0" y="381001"/>
            <a:ext cx="1037850" cy="1016288"/>
            <a:chOff x="0" y="381001"/>
            <a:chExt cx="1037850" cy="1016288"/>
          </a:xfrm>
        </p:grpSpPr>
        <p:sp>
          <p:nvSpPr>
            <p:cNvPr id="66" name="Google Shape;66;p1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1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8" name="Google Shape;68;p15"/>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69" name="Google Shape;69;p15"/>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70" name="Google Shape;70;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1" name="Shape 71"/>
        <p:cNvGrpSpPr/>
        <p:nvPr/>
      </p:nvGrpSpPr>
      <p:grpSpPr>
        <a:xfrm>
          <a:off x="0" y="0"/>
          <a:ext cx="0" cy="0"/>
          <a:chOff x="0" y="0"/>
          <a:chExt cx="0" cy="0"/>
        </a:xfrm>
      </p:grpSpPr>
      <p:sp>
        <p:nvSpPr>
          <p:cNvPr id="72" name="Google Shape;72;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3" name="Shape 73"/>
        <p:cNvGrpSpPr/>
        <p:nvPr/>
      </p:nvGrpSpPr>
      <p:grpSpPr>
        <a:xfrm>
          <a:off x="0" y="0"/>
          <a:ext cx="0" cy="0"/>
          <a:chOff x="0" y="0"/>
          <a:chExt cx="0" cy="0"/>
        </a:xfrm>
      </p:grpSpPr>
      <p:grpSp>
        <p:nvGrpSpPr>
          <p:cNvPr id="74" name="Google Shape;74;p17"/>
          <p:cNvGrpSpPr/>
          <p:nvPr/>
        </p:nvGrpSpPr>
        <p:grpSpPr>
          <a:xfrm>
            <a:off x="4406400" y="0"/>
            <a:ext cx="4737600" cy="5143500"/>
            <a:chOff x="4406400" y="0"/>
            <a:chExt cx="4737600" cy="5143500"/>
          </a:xfrm>
        </p:grpSpPr>
        <p:sp>
          <p:nvSpPr>
            <p:cNvPr id="75" name="Google Shape;75;p17"/>
            <p:cNvSpPr/>
            <p:nvPr/>
          </p:nvSpPr>
          <p:spPr>
            <a:xfrm rot="5400000">
              <a:off x="4407900" y="-1500"/>
              <a:ext cx="4734600" cy="4737600"/>
            </a:xfrm>
            <a:prstGeom prst="diagStripe">
              <a:avLst>
                <a:gd fmla="val 49469" name="adj"/>
              </a:avLst>
            </a:prstGeom>
            <a:solidFill>
              <a:schemeClr val="lt1">
                <a:alpha val="313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7"/>
            <p:cNvSpPr/>
            <p:nvPr/>
          </p:nvSpPr>
          <p:spPr>
            <a:xfrm rot="5400000">
              <a:off x="4840825" y="6000"/>
              <a:ext cx="4298700" cy="4286700"/>
            </a:xfrm>
            <a:prstGeom prst="diagStripe">
              <a:avLst>
                <a:gd fmla="val 0" name="adj"/>
              </a:avLst>
            </a:prstGeom>
            <a:solidFill>
              <a:schemeClr val="lt1">
                <a:alpha val="313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17"/>
            <p:cNvSpPr/>
            <p:nvPr/>
          </p:nvSpPr>
          <p:spPr>
            <a:xfrm rot="-5400000">
              <a:off x="5618399" y="1236641"/>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17"/>
            <p:cNvSpPr/>
            <p:nvPr/>
          </p:nvSpPr>
          <p:spPr>
            <a:xfrm flipH="1">
              <a:off x="5849857" y="1444078"/>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17"/>
            <p:cNvSpPr/>
            <p:nvPr/>
          </p:nvSpPr>
          <p:spPr>
            <a:xfrm rot="-5400000">
              <a:off x="5987081" y="2469743"/>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17"/>
            <p:cNvSpPr/>
            <p:nvPr/>
          </p:nvSpPr>
          <p:spPr>
            <a:xfrm flipH="1">
              <a:off x="6222115" y="2677179"/>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17"/>
            <p:cNvSpPr/>
            <p:nvPr/>
          </p:nvSpPr>
          <p:spPr>
            <a:xfrm rot="-5400000">
              <a:off x="6675341" y="1862244"/>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17"/>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7"/>
            <p:cNvSpPr/>
            <p:nvPr/>
          </p:nvSpPr>
          <p:spPr>
            <a:xfrm rot="-5400000">
              <a:off x="6861141" y="2478088"/>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17"/>
            <p:cNvSpPr/>
            <p:nvPr/>
          </p:nvSpPr>
          <p:spPr>
            <a:xfrm flipH="1">
              <a:off x="7965266" y="2693191"/>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17"/>
            <p:cNvSpPr/>
            <p:nvPr/>
          </p:nvSpPr>
          <p:spPr>
            <a:xfrm flipH="1">
              <a:off x="8145082" y="3309036"/>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7"/>
            <p:cNvSpPr/>
            <p:nvPr/>
          </p:nvSpPr>
          <p:spPr>
            <a:xfrm rot="-5400000">
              <a:off x="7047599" y="309534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7"/>
            <p:cNvSpPr/>
            <p:nvPr/>
          </p:nvSpPr>
          <p:spPr>
            <a:xfrm flipH="1">
              <a:off x="7276649" y="3302781"/>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7"/>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17"/>
            <p:cNvSpPr/>
            <p:nvPr/>
          </p:nvSpPr>
          <p:spPr>
            <a:xfrm flipH="1">
              <a:off x="7462448" y="391862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17"/>
            <p:cNvSpPr/>
            <p:nvPr/>
          </p:nvSpPr>
          <p:spPr>
            <a:xfrm rot="-5400000">
              <a:off x="8102491" y="3718856"/>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17"/>
            <p:cNvSpPr/>
            <p:nvPr/>
          </p:nvSpPr>
          <p:spPr>
            <a:xfrm flipH="1">
              <a:off x="8334533" y="3926292"/>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17"/>
            <p:cNvSpPr/>
            <p:nvPr/>
          </p:nvSpPr>
          <p:spPr>
            <a:xfrm rot="-5400000">
              <a:off x="8288290" y="4334700"/>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3" name="Google Shape;93;p17"/>
          <p:cNvSpPr txBox="1"/>
          <p:nvPr>
            <p:ph type="title"/>
          </p:nvPr>
        </p:nvSpPr>
        <p:spPr>
          <a:xfrm>
            <a:off x="823850" y="866775"/>
            <a:ext cx="4587000" cy="35211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4" name="Google Shape;94;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5" name="Shape 95"/>
        <p:cNvGrpSpPr/>
        <p:nvPr/>
      </p:nvGrpSpPr>
      <p:grpSpPr>
        <a:xfrm>
          <a:off x="0" y="0"/>
          <a:ext cx="0" cy="0"/>
          <a:chOff x="0" y="0"/>
          <a:chExt cx="0" cy="0"/>
        </a:xfrm>
      </p:grpSpPr>
      <p:grpSp>
        <p:nvGrpSpPr>
          <p:cNvPr id="96" name="Google Shape;96;p18"/>
          <p:cNvGrpSpPr/>
          <p:nvPr/>
        </p:nvGrpSpPr>
        <p:grpSpPr>
          <a:xfrm>
            <a:off x="4406400" y="0"/>
            <a:ext cx="4737600" cy="5143065"/>
            <a:chOff x="4406400" y="0"/>
            <a:chExt cx="4737600" cy="5143065"/>
          </a:xfrm>
        </p:grpSpPr>
        <p:sp>
          <p:nvSpPr>
            <p:cNvPr id="97" name="Google Shape;97;p18"/>
            <p:cNvSpPr/>
            <p:nvPr/>
          </p:nvSpPr>
          <p:spPr>
            <a:xfrm rot="5400000">
              <a:off x="4408200" y="-1800"/>
              <a:ext cx="4734000" cy="4737600"/>
            </a:xfrm>
            <a:prstGeom prst="diagStripe">
              <a:avLst>
                <a:gd fmla="val 49469" name="adj"/>
              </a:avLst>
            </a:prstGeom>
            <a:solidFill>
              <a:schemeClr val="lt1">
                <a:alpha val="313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18"/>
            <p:cNvSpPr/>
            <p:nvPr/>
          </p:nvSpPr>
          <p:spPr>
            <a:xfrm rot="5400000">
              <a:off x="4841125" y="5700"/>
              <a:ext cx="4298100" cy="4286700"/>
            </a:xfrm>
            <a:prstGeom prst="diagStripe">
              <a:avLst>
                <a:gd fmla="val 0" name="adj"/>
              </a:avLst>
            </a:prstGeom>
            <a:solidFill>
              <a:schemeClr val="lt1">
                <a:alpha val="313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18"/>
            <p:cNvSpPr/>
            <p:nvPr/>
          </p:nvSpPr>
          <p:spPr>
            <a:xfrm rot="-5400000">
              <a:off x="5618399" y="1236468"/>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18"/>
            <p:cNvSpPr/>
            <p:nvPr/>
          </p:nvSpPr>
          <p:spPr>
            <a:xfrm flipH="1">
              <a:off x="5849857" y="1443956"/>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18"/>
            <p:cNvSpPr/>
            <p:nvPr/>
          </p:nvSpPr>
          <p:spPr>
            <a:xfrm rot="-5400000">
              <a:off x="5987081" y="246946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18"/>
            <p:cNvSpPr/>
            <p:nvPr/>
          </p:nvSpPr>
          <p:spPr>
            <a:xfrm flipH="1">
              <a:off x="6222115" y="2676953"/>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18"/>
            <p:cNvSpPr/>
            <p:nvPr/>
          </p:nvSpPr>
          <p:spPr>
            <a:xfrm rot="-5400000">
              <a:off x="6675341" y="1862018"/>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18"/>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18"/>
            <p:cNvSpPr/>
            <p:nvPr/>
          </p:nvSpPr>
          <p:spPr>
            <a:xfrm rot="-5400000">
              <a:off x="6861141" y="2477810"/>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18"/>
            <p:cNvSpPr/>
            <p:nvPr/>
          </p:nvSpPr>
          <p:spPr>
            <a:xfrm flipH="1">
              <a:off x="7965266" y="2692963"/>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18"/>
            <p:cNvSpPr/>
            <p:nvPr/>
          </p:nvSpPr>
          <p:spPr>
            <a:xfrm flipH="1">
              <a:off x="8145082" y="330875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18"/>
            <p:cNvSpPr/>
            <p:nvPr/>
          </p:nvSpPr>
          <p:spPr>
            <a:xfrm rot="-5400000">
              <a:off x="7047599" y="309501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18"/>
            <p:cNvSpPr/>
            <p:nvPr/>
          </p:nvSpPr>
          <p:spPr>
            <a:xfrm flipH="1">
              <a:off x="7276649" y="3302502"/>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18"/>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8"/>
            <p:cNvSpPr/>
            <p:nvPr/>
          </p:nvSpPr>
          <p:spPr>
            <a:xfrm flipH="1">
              <a:off x="7462448" y="3918294"/>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18"/>
            <p:cNvSpPr/>
            <p:nvPr/>
          </p:nvSpPr>
          <p:spPr>
            <a:xfrm rot="-5400000">
              <a:off x="8102491" y="3718473"/>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18"/>
            <p:cNvSpPr/>
            <p:nvPr/>
          </p:nvSpPr>
          <p:spPr>
            <a:xfrm flipH="1">
              <a:off x="8334533" y="3925960"/>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18"/>
            <p:cNvSpPr/>
            <p:nvPr/>
          </p:nvSpPr>
          <p:spPr>
            <a:xfrm rot="-5400000">
              <a:off x="8288290" y="433426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5" name="Google Shape;115;p18"/>
          <p:cNvSpPr txBox="1"/>
          <p:nvPr>
            <p:ph type="title"/>
          </p:nvPr>
        </p:nvSpPr>
        <p:spPr>
          <a:xfrm>
            <a:off x="823850" y="2053000"/>
            <a:ext cx="4587000" cy="1148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6" name="Google Shape;116;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7" name="Shape 117"/>
        <p:cNvGrpSpPr/>
        <p:nvPr/>
      </p:nvGrpSpPr>
      <p:grpSpPr>
        <a:xfrm>
          <a:off x="0" y="0"/>
          <a:ext cx="0" cy="0"/>
          <a:chOff x="0" y="0"/>
          <a:chExt cx="0" cy="0"/>
        </a:xfrm>
      </p:grpSpPr>
      <p:grpSp>
        <p:nvGrpSpPr>
          <p:cNvPr id="118" name="Google Shape;118;p19"/>
          <p:cNvGrpSpPr/>
          <p:nvPr/>
        </p:nvGrpSpPr>
        <p:grpSpPr>
          <a:xfrm>
            <a:off x="0" y="381001"/>
            <a:ext cx="1037850" cy="1016288"/>
            <a:chOff x="0" y="381001"/>
            <a:chExt cx="1037850" cy="1016288"/>
          </a:xfrm>
        </p:grpSpPr>
        <p:sp>
          <p:nvSpPr>
            <p:cNvPr id="119" name="Google Shape;119;p1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1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1" name="Google Shape;121;p19"/>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22" name="Google Shape;122;p19"/>
          <p:cNvSpPr txBox="1"/>
          <p:nvPr>
            <p:ph idx="1" type="body"/>
          </p:nvPr>
        </p:nvSpPr>
        <p:spPr>
          <a:xfrm>
            <a:off x="1297500" y="1567550"/>
            <a:ext cx="34032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23" name="Google Shape;123;p19"/>
          <p:cNvSpPr txBox="1"/>
          <p:nvPr>
            <p:ph idx="2" type="body"/>
          </p:nvPr>
        </p:nvSpPr>
        <p:spPr>
          <a:xfrm>
            <a:off x="4933221" y="1567550"/>
            <a:ext cx="34032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24" name="Google Shape;124;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5" name="Shape 125"/>
        <p:cNvGrpSpPr/>
        <p:nvPr/>
      </p:nvGrpSpPr>
      <p:grpSpPr>
        <a:xfrm>
          <a:off x="0" y="0"/>
          <a:ext cx="0" cy="0"/>
          <a:chOff x="0" y="0"/>
          <a:chExt cx="0" cy="0"/>
        </a:xfrm>
      </p:grpSpPr>
      <p:grpSp>
        <p:nvGrpSpPr>
          <p:cNvPr id="126" name="Google Shape;126;p20"/>
          <p:cNvGrpSpPr/>
          <p:nvPr/>
        </p:nvGrpSpPr>
        <p:grpSpPr>
          <a:xfrm>
            <a:off x="0" y="381001"/>
            <a:ext cx="1037850" cy="1016288"/>
            <a:chOff x="0" y="381001"/>
            <a:chExt cx="1037850" cy="1016288"/>
          </a:xfrm>
        </p:grpSpPr>
        <p:sp>
          <p:nvSpPr>
            <p:cNvPr id="127" name="Google Shape;127;p20"/>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20"/>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9" name="Google Shape;129;p20"/>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30" name="Google Shape;130;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31" name="Shape 131"/>
        <p:cNvGrpSpPr/>
        <p:nvPr/>
      </p:nvGrpSpPr>
      <p:grpSpPr>
        <a:xfrm>
          <a:off x="0" y="0"/>
          <a:ext cx="0" cy="0"/>
          <a:chOff x="0" y="0"/>
          <a:chExt cx="0" cy="0"/>
        </a:xfrm>
      </p:grpSpPr>
      <p:grpSp>
        <p:nvGrpSpPr>
          <p:cNvPr id="132" name="Google Shape;132;p21"/>
          <p:cNvGrpSpPr/>
          <p:nvPr/>
        </p:nvGrpSpPr>
        <p:grpSpPr>
          <a:xfrm>
            <a:off x="0" y="381001"/>
            <a:ext cx="1037850" cy="1016288"/>
            <a:chOff x="0" y="381001"/>
            <a:chExt cx="1037850" cy="1016288"/>
          </a:xfrm>
        </p:grpSpPr>
        <p:sp>
          <p:nvSpPr>
            <p:cNvPr id="133" name="Google Shape;133;p21"/>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21"/>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5" name="Google Shape;135;p21"/>
          <p:cNvSpPr txBox="1"/>
          <p:nvPr>
            <p:ph type="title"/>
          </p:nvPr>
        </p:nvSpPr>
        <p:spPr>
          <a:xfrm>
            <a:off x="1297500" y="393750"/>
            <a:ext cx="3798900" cy="1493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36" name="Google Shape;136;p21"/>
          <p:cNvSpPr txBox="1"/>
          <p:nvPr>
            <p:ph idx="1" type="body"/>
          </p:nvPr>
        </p:nvSpPr>
        <p:spPr>
          <a:xfrm>
            <a:off x="1297500" y="1972550"/>
            <a:ext cx="3798900" cy="2415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37" name="Google Shape;137;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8" name="Shape 138"/>
        <p:cNvGrpSpPr/>
        <p:nvPr/>
      </p:nvGrpSpPr>
      <p:grpSpPr>
        <a:xfrm>
          <a:off x="0" y="0"/>
          <a:ext cx="0" cy="0"/>
          <a:chOff x="0" y="0"/>
          <a:chExt cx="0" cy="0"/>
        </a:xfrm>
      </p:grpSpPr>
      <p:grpSp>
        <p:nvGrpSpPr>
          <p:cNvPr id="139" name="Google Shape;139;p22"/>
          <p:cNvGrpSpPr/>
          <p:nvPr/>
        </p:nvGrpSpPr>
        <p:grpSpPr>
          <a:xfrm>
            <a:off x="0" y="381001"/>
            <a:ext cx="1037850" cy="1016288"/>
            <a:chOff x="0" y="381001"/>
            <a:chExt cx="1037850" cy="1016288"/>
          </a:xfrm>
        </p:grpSpPr>
        <p:sp>
          <p:nvSpPr>
            <p:cNvPr id="140" name="Google Shape;140;p22"/>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22"/>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2" name="Google Shape;142;p22"/>
          <p:cNvSpPr txBox="1"/>
          <p:nvPr>
            <p:ph type="title"/>
          </p:nvPr>
        </p:nvSpPr>
        <p:spPr>
          <a:xfrm>
            <a:off x="1297500" y="1658325"/>
            <a:ext cx="3036300" cy="1751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43" name="Google Shape;143;p22"/>
          <p:cNvSpPr txBox="1"/>
          <p:nvPr>
            <p:ph idx="1" type="subTitle"/>
          </p:nvPr>
        </p:nvSpPr>
        <p:spPr>
          <a:xfrm>
            <a:off x="1297500" y="3538000"/>
            <a:ext cx="3036300" cy="50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p:txBody>
      </p:sp>
      <p:sp>
        <p:nvSpPr>
          <p:cNvPr id="144" name="Google Shape;144;p22"/>
          <p:cNvSpPr txBox="1"/>
          <p:nvPr>
            <p:ph idx="2" type="body"/>
          </p:nvPr>
        </p:nvSpPr>
        <p:spPr>
          <a:xfrm>
            <a:off x="4648200" y="1696600"/>
            <a:ext cx="3676800" cy="234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45" name="Google Shape;145;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6" name="Shape 146"/>
        <p:cNvGrpSpPr/>
        <p:nvPr/>
      </p:nvGrpSpPr>
      <p:grpSpPr>
        <a:xfrm>
          <a:off x="0" y="0"/>
          <a:ext cx="0" cy="0"/>
          <a:chOff x="0" y="0"/>
          <a:chExt cx="0" cy="0"/>
        </a:xfrm>
      </p:grpSpPr>
      <p:grpSp>
        <p:nvGrpSpPr>
          <p:cNvPr id="147" name="Google Shape;147;p23"/>
          <p:cNvGrpSpPr/>
          <p:nvPr/>
        </p:nvGrpSpPr>
        <p:grpSpPr>
          <a:xfrm>
            <a:off x="0" y="4128572"/>
            <a:ext cx="698925" cy="684657"/>
            <a:chOff x="0" y="3785672"/>
            <a:chExt cx="698925" cy="684657"/>
          </a:xfrm>
        </p:grpSpPr>
        <p:sp>
          <p:nvSpPr>
            <p:cNvPr id="148" name="Google Shape;148;p23"/>
            <p:cNvSpPr/>
            <p:nvPr/>
          </p:nvSpPr>
          <p:spPr>
            <a:xfrm rot="-5400000">
              <a:off x="0" y="3785672"/>
              <a:ext cx="544800" cy="544800"/>
            </a:xfrm>
            <a:prstGeom prst="diagStripe">
              <a:avLst>
                <a:gd fmla="val 50000" name="adj"/>
              </a:avLst>
            </a:prstGeom>
            <a:solidFill>
              <a:schemeClr val="lt1">
                <a:alpha val="9411"/>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23"/>
            <p:cNvSpPr/>
            <p:nvPr/>
          </p:nvSpPr>
          <p:spPr>
            <a:xfrm flipH="1">
              <a:off x="154125" y="3925529"/>
              <a:ext cx="544800" cy="544800"/>
            </a:xfrm>
            <a:prstGeom prst="diagStripe">
              <a:avLst>
                <a:gd fmla="val 50000" name="adj"/>
              </a:avLst>
            </a:prstGeom>
            <a:solidFill>
              <a:schemeClr val="lt1">
                <a:alpha val="9411"/>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0" name="Google Shape;150;p23"/>
          <p:cNvSpPr txBox="1"/>
          <p:nvPr>
            <p:ph idx="1" type="body"/>
          </p:nvPr>
        </p:nvSpPr>
        <p:spPr>
          <a:xfrm>
            <a:off x="812725" y="4305375"/>
            <a:ext cx="6936000" cy="523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151" name="Google Shape;151;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52" name="Shape 152"/>
        <p:cNvGrpSpPr/>
        <p:nvPr/>
      </p:nvGrpSpPr>
      <p:grpSpPr>
        <a:xfrm>
          <a:off x="0" y="0"/>
          <a:ext cx="0" cy="0"/>
          <a:chOff x="0" y="0"/>
          <a:chExt cx="0" cy="0"/>
        </a:xfrm>
      </p:grpSpPr>
      <p:grpSp>
        <p:nvGrpSpPr>
          <p:cNvPr id="153" name="Google Shape;153;p24"/>
          <p:cNvGrpSpPr/>
          <p:nvPr/>
        </p:nvGrpSpPr>
        <p:grpSpPr>
          <a:xfrm>
            <a:off x="4406400" y="0"/>
            <a:ext cx="4737600" cy="5143065"/>
            <a:chOff x="4406400" y="0"/>
            <a:chExt cx="4737600" cy="5143065"/>
          </a:xfrm>
        </p:grpSpPr>
        <p:sp>
          <p:nvSpPr>
            <p:cNvPr id="154" name="Google Shape;154;p24"/>
            <p:cNvSpPr/>
            <p:nvPr/>
          </p:nvSpPr>
          <p:spPr>
            <a:xfrm rot="5400000">
              <a:off x="4408200" y="-1800"/>
              <a:ext cx="4734000" cy="4737600"/>
            </a:xfrm>
            <a:prstGeom prst="diagStripe">
              <a:avLst>
                <a:gd fmla="val 49469" name="adj"/>
              </a:avLst>
            </a:prstGeom>
            <a:solidFill>
              <a:schemeClr val="lt1">
                <a:alpha val="313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24"/>
            <p:cNvSpPr/>
            <p:nvPr/>
          </p:nvSpPr>
          <p:spPr>
            <a:xfrm rot="5400000">
              <a:off x="4841125" y="5700"/>
              <a:ext cx="4298100" cy="4286700"/>
            </a:xfrm>
            <a:prstGeom prst="diagStripe">
              <a:avLst>
                <a:gd fmla="val 0" name="adj"/>
              </a:avLst>
            </a:prstGeom>
            <a:solidFill>
              <a:schemeClr val="lt1">
                <a:alpha val="313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24"/>
            <p:cNvSpPr/>
            <p:nvPr/>
          </p:nvSpPr>
          <p:spPr>
            <a:xfrm rot="-5400000">
              <a:off x="5618399" y="1236468"/>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24"/>
            <p:cNvSpPr/>
            <p:nvPr/>
          </p:nvSpPr>
          <p:spPr>
            <a:xfrm flipH="1">
              <a:off x="5849857" y="1443956"/>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24"/>
            <p:cNvSpPr/>
            <p:nvPr/>
          </p:nvSpPr>
          <p:spPr>
            <a:xfrm rot="-5400000">
              <a:off x="5987081" y="246946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24"/>
            <p:cNvSpPr/>
            <p:nvPr/>
          </p:nvSpPr>
          <p:spPr>
            <a:xfrm flipH="1">
              <a:off x="6222115" y="2676953"/>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24"/>
            <p:cNvSpPr/>
            <p:nvPr/>
          </p:nvSpPr>
          <p:spPr>
            <a:xfrm rot="-5400000">
              <a:off x="6675341" y="1862018"/>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24"/>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24"/>
            <p:cNvSpPr/>
            <p:nvPr/>
          </p:nvSpPr>
          <p:spPr>
            <a:xfrm rot="-5400000">
              <a:off x="6861141" y="2477810"/>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24"/>
            <p:cNvSpPr/>
            <p:nvPr/>
          </p:nvSpPr>
          <p:spPr>
            <a:xfrm flipH="1">
              <a:off x="7965266" y="2692963"/>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24"/>
            <p:cNvSpPr/>
            <p:nvPr/>
          </p:nvSpPr>
          <p:spPr>
            <a:xfrm flipH="1">
              <a:off x="8145082" y="330875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24"/>
            <p:cNvSpPr/>
            <p:nvPr/>
          </p:nvSpPr>
          <p:spPr>
            <a:xfrm rot="-5400000">
              <a:off x="7047599" y="309501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24"/>
            <p:cNvSpPr/>
            <p:nvPr/>
          </p:nvSpPr>
          <p:spPr>
            <a:xfrm flipH="1">
              <a:off x="7276649" y="3302502"/>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24"/>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24"/>
            <p:cNvSpPr/>
            <p:nvPr/>
          </p:nvSpPr>
          <p:spPr>
            <a:xfrm flipH="1">
              <a:off x="7462448" y="3918294"/>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24"/>
            <p:cNvSpPr/>
            <p:nvPr/>
          </p:nvSpPr>
          <p:spPr>
            <a:xfrm rot="-5400000">
              <a:off x="8102491" y="3718473"/>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24"/>
            <p:cNvSpPr/>
            <p:nvPr/>
          </p:nvSpPr>
          <p:spPr>
            <a:xfrm flipH="1">
              <a:off x="8334533" y="3925960"/>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24"/>
            <p:cNvSpPr/>
            <p:nvPr/>
          </p:nvSpPr>
          <p:spPr>
            <a:xfrm rot="-5400000">
              <a:off x="8288290" y="433426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2" name="Google Shape;172;p24"/>
          <p:cNvSpPr txBox="1"/>
          <p:nvPr>
            <p:ph hasCustomPrompt="1" type="title"/>
          </p:nvPr>
        </p:nvSpPr>
        <p:spPr>
          <a:xfrm>
            <a:off x="823850" y="1284675"/>
            <a:ext cx="4776000" cy="1300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8000"/>
              <a:buNone/>
              <a:defRPr sz="8000"/>
            </a:lvl1pPr>
            <a:lvl2pPr lvl="1" algn="l">
              <a:lnSpc>
                <a:spcPct val="100000"/>
              </a:lnSpc>
              <a:spcBef>
                <a:spcPts val="0"/>
              </a:spcBef>
              <a:spcAft>
                <a:spcPts val="0"/>
              </a:spcAft>
              <a:buSzPts val="8000"/>
              <a:buNone/>
              <a:defRPr sz="8000"/>
            </a:lvl2pPr>
            <a:lvl3pPr lvl="2" algn="l">
              <a:lnSpc>
                <a:spcPct val="100000"/>
              </a:lnSpc>
              <a:spcBef>
                <a:spcPts val="0"/>
              </a:spcBef>
              <a:spcAft>
                <a:spcPts val="0"/>
              </a:spcAft>
              <a:buSzPts val="8000"/>
              <a:buNone/>
              <a:defRPr sz="8000"/>
            </a:lvl3pPr>
            <a:lvl4pPr lvl="3" algn="l">
              <a:lnSpc>
                <a:spcPct val="100000"/>
              </a:lnSpc>
              <a:spcBef>
                <a:spcPts val="0"/>
              </a:spcBef>
              <a:spcAft>
                <a:spcPts val="0"/>
              </a:spcAft>
              <a:buSzPts val="8000"/>
              <a:buNone/>
              <a:defRPr sz="8000"/>
            </a:lvl4pPr>
            <a:lvl5pPr lvl="4" algn="l">
              <a:lnSpc>
                <a:spcPct val="100000"/>
              </a:lnSpc>
              <a:spcBef>
                <a:spcPts val="0"/>
              </a:spcBef>
              <a:spcAft>
                <a:spcPts val="0"/>
              </a:spcAft>
              <a:buSzPts val="8000"/>
              <a:buNone/>
              <a:defRPr sz="8000"/>
            </a:lvl5pPr>
            <a:lvl6pPr lvl="5" algn="l">
              <a:lnSpc>
                <a:spcPct val="100000"/>
              </a:lnSpc>
              <a:spcBef>
                <a:spcPts val="0"/>
              </a:spcBef>
              <a:spcAft>
                <a:spcPts val="0"/>
              </a:spcAft>
              <a:buSzPts val="8000"/>
              <a:buNone/>
              <a:defRPr sz="8000"/>
            </a:lvl6pPr>
            <a:lvl7pPr lvl="6" algn="l">
              <a:lnSpc>
                <a:spcPct val="100000"/>
              </a:lnSpc>
              <a:spcBef>
                <a:spcPts val="0"/>
              </a:spcBef>
              <a:spcAft>
                <a:spcPts val="0"/>
              </a:spcAft>
              <a:buSzPts val="8000"/>
              <a:buNone/>
              <a:defRPr sz="8000"/>
            </a:lvl7pPr>
            <a:lvl8pPr lvl="7" algn="l">
              <a:lnSpc>
                <a:spcPct val="100000"/>
              </a:lnSpc>
              <a:spcBef>
                <a:spcPts val="0"/>
              </a:spcBef>
              <a:spcAft>
                <a:spcPts val="0"/>
              </a:spcAft>
              <a:buSzPts val="8000"/>
              <a:buNone/>
              <a:defRPr sz="8000"/>
            </a:lvl8pPr>
            <a:lvl9pPr lvl="8" algn="l">
              <a:lnSpc>
                <a:spcPct val="100000"/>
              </a:lnSpc>
              <a:spcBef>
                <a:spcPts val="0"/>
              </a:spcBef>
              <a:spcAft>
                <a:spcPts val="0"/>
              </a:spcAft>
              <a:buSzPts val="8000"/>
              <a:buNone/>
              <a:defRPr sz="8000"/>
            </a:lvl9pPr>
          </a:lstStyle>
          <a:p>
            <a:r>
              <a:t>xx%</a:t>
            </a:r>
          </a:p>
        </p:txBody>
      </p:sp>
      <p:sp>
        <p:nvSpPr>
          <p:cNvPr id="173" name="Google Shape;173;p24"/>
          <p:cNvSpPr txBox="1"/>
          <p:nvPr>
            <p:ph idx="1" type="body"/>
          </p:nvPr>
        </p:nvSpPr>
        <p:spPr>
          <a:xfrm>
            <a:off x="823850" y="2643124"/>
            <a:ext cx="4776000" cy="1218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74" name="Google Shape;174;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1pPr>
            <a:lvl2pPr lvl="1"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2pPr>
            <a:lvl3pPr lvl="2"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3pPr>
            <a:lvl4pPr lvl="3"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4pPr>
            <a:lvl5pPr lvl="4"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5pPr>
            <a:lvl6pPr lvl="5"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6pPr>
            <a:lvl7pPr lvl="6"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7pPr>
            <a:lvl8pPr lvl="7"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8pPr>
            <a:lvl9pPr lvl="8"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lt1"/>
              </a:buClr>
              <a:buSzPts val="1300"/>
              <a:buFont typeface="Lato"/>
              <a:buChar char="●"/>
              <a:defRPr b="0" i="0" sz="1300" u="none" cap="none" strike="noStrike">
                <a:solidFill>
                  <a:schemeClr val="lt1"/>
                </a:solidFill>
                <a:latin typeface="Lato"/>
                <a:ea typeface="Lato"/>
                <a:cs typeface="Lato"/>
                <a:sym typeface="Lato"/>
              </a:defRPr>
            </a:lvl1pPr>
            <a:lvl2pPr indent="-298450" lvl="1" marL="9144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2pPr>
            <a:lvl3pPr indent="-298450" lvl="2" marL="13716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3pPr>
            <a:lvl4pPr indent="-298450" lvl="3" marL="18288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4pPr>
            <a:lvl5pPr indent="-298450" lvl="4" marL="22860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5pPr>
            <a:lvl6pPr indent="-298450" lvl="5" marL="27432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6pPr>
            <a:lvl7pPr indent="-298450" lvl="6" marL="32004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7pPr>
            <a:lvl8pPr indent="-298450" lvl="7" marL="36576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8pPr>
            <a:lvl9pPr indent="-298450" lvl="8" marL="41148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 Id="rId3"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8.png"/><Relationship Id="rId6"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5"/>
          <p:cNvSpPr txBox="1"/>
          <p:nvPr>
            <p:ph type="ctrTitle"/>
          </p:nvPr>
        </p:nvSpPr>
        <p:spPr>
          <a:xfrm>
            <a:off x="3537150" y="785350"/>
            <a:ext cx="5017500" cy="15789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Stock Forecasting with Hybrid Deep Learning and Anomaly Detection.</a:t>
            </a:r>
            <a:endParaRPr/>
          </a:p>
        </p:txBody>
      </p:sp>
      <p:sp>
        <p:nvSpPr>
          <p:cNvPr id="180" name="Google Shape;180;p25"/>
          <p:cNvSpPr txBox="1"/>
          <p:nvPr>
            <p:ph idx="1" type="subTitle"/>
          </p:nvPr>
        </p:nvSpPr>
        <p:spPr>
          <a:xfrm>
            <a:off x="3721425" y="3290475"/>
            <a:ext cx="3470700" cy="5061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688"/>
              <a:buNone/>
            </a:pPr>
            <a:r>
              <a:rPr lang="en" sz="1212"/>
              <a:t>J Muniyandi - 2021UCS1577</a:t>
            </a:r>
            <a:endParaRPr sz="1212"/>
          </a:p>
          <a:p>
            <a:pPr indent="0" lvl="0" marL="0" rtl="0" algn="l">
              <a:lnSpc>
                <a:spcPct val="80000"/>
              </a:lnSpc>
              <a:spcBef>
                <a:spcPts val="0"/>
              </a:spcBef>
              <a:spcAft>
                <a:spcPts val="0"/>
              </a:spcAft>
              <a:buSzPts val="688"/>
              <a:buNone/>
            </a:pPr>
            <a:r>
              <a:t/>
            </a:r>
            <a:endParaRPr sz="1212"/>
          </a:p>
          <a:p>
            <a:pPr indent="0" lvl="0" marL="0" rtl="0" algn="l">
              <a:lnSpc>
                <a:spcPct val="80000"/>
              </a:lnSpc>
              <a:spcBef>
                <a:spcPts val="0"/>
              </a:spcBef>
              <a:spcAft>
                <a:spcPts val="0"/>
              </a:spcAft>
              <a:buSzPts val="688"/>
              <a:buNone/>
            </a:pPr>
            <a:r>
              <a:rPr lang="en" sz="1212"/>
              <a:t>Ramanjot Singh - 2021UCS1598</a:t>
            </a:r>
            <a:endParaRPr sz="1212"/>
          </a:p>
          <a:p>
            <a:pPr indent="0" lvl="0" marL="0" rtl="0" algn="l">
              <a:lnSpc>
                <a:spcPct val="80000"/>
              </a:lnSpc>
              <a:spcBef>
                <a:spcPts val="0"/>
              </a:spcBef>
              <a:spcAft>
                <a:spcPts val="0"/>
              </a:spcAft>
              <a:buSzPts val="688"/>
              <a:buNone/>
            </a:pPr>
            <a:r>
              <a:t/>
            </a:r>
            <a:endParaRPr sz="1212"/>
          </a:p>
          <a:p>
            <a:pPr indent="0" lvl="0" marL="0" rtl="0" algn="l">
              <a:lnSpc>
                <a:spcPct val="80000"/>
              </a:lnSpc>
              <a:spcBef>
                <a:spcPts val="0"/>
              </a:spcBef>
              <a:spcAft>
                <a:spcPts val="0"/>
              </a:spcAft>
              <a:buSzPts val="688"/>
              <a:buNone/>
            </a:pPr>
            <a:r>
              <a:rPr lang="en" sz="1212"/>
              <a:t>Mudit Jain - 2021UCS1604</a:t>
            </a:r>
            <a:endParaRPr sz="1212"/>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6"/>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
              <a:t>Problem Statement</a:t>
            </a:r>
            <a:endParaRPr/>
          </a:p>
        </p:txBody>
      </p:sp>
      <p:sp>
        <p:nvSpPr>
          <p:cNvPr id="186" name="Google Shape;186;p26"/>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n"/>
              <a:t>To propose a solution that integrates LSTM and XGBoost in an ensemble framework,</a:t>
            </a:r>
            <a:endParaRPr/>
          </a:p>
          <a:p>
            <a:pPr indent="0" lvl="0" marL="0" rtl="0" algn="l">
              <a:spcBef>
                <a:spcPts val="0"/>
              </a:spcBef>
              <a:spcAft>
                <a:spcPts val="0"/>
              </a:spcAft>
              <a:buNone/>
            </a:pPr>
            <a:r>
              <a:rPr lang="en"/>
              <a:t>incorporating attention mechanisms for enhanced temporal pattern recognition , anomaly</a:t>
            </a:r>
            <a:endParaRPr/>
          </a:p>
          <a:p>
            <a:pPr indent="0" lvl="0" marL="0" rtl="0" algn="l">
              <a:spcBef>
                <a:spcPts val="0"/>
              </a:spcBef>
              <a:spcAft>
                <a:spcPts val="0"/>
              </a:spcAft>
              <a:buNone/>
            </a:pPr>
            <a:r>
              <a:rPr lang="en"/>
              <a:t>detection methods for data quality assurance and interpretable predictions of stock price</a:t>
            </a:r>
            <a:endParaRPr/>
          </a:p>
          <a:p>
            <a:pPr indent="0" lvl="0" marL="0" rtl="0" algn="l">
              <a:spcBef>
                <a:spcPts val="0"/>
              </a:spcBef>
              <a:spcAft>
                <a:spcPts val="0"/>
              </a:spcAft>
              <a:buNone/>
            </a:pPr>
            <a:r>
              <a:rPr lang="en"/>
              <a:t>movements based on both macroeconomic and fundamental indicators.</a:t>
            </a:r>
            <a:endParaRPr/>
          </a:p>
          <a:p>
            <a:pPr indent="0" lvl="0" marL="0" rtl="0" algn="l">
              <a:lnSpc>
                <a:spcPct val="115000"/>
              </a:lnSpc>
              <a:spcBef>
                <a:spcPts val="0"/>
              </a:spcBef>
              <a:spcAft>
                <a:spcPts val="0"/>
              </a:spcAft>
              <a:buSzPts val="1300"/>
              <a:buNone/>
            </a:pPr>
            <a:r>
              <a:t/>
            </a:r>
            <a:endParaRPr/>
          </a:p>
          <a:p>
            <a:pPr indent="0" lvl="0" marL="0" rtl="0" algn="l">
              <a:lnSpc>
                <a:spcPct val="115000"/>
              </a:lnSpc>
              <a:spcBef>
                <a:spcPts val="1200"/>
              </a:spcBef>
              <a:spcAft>
                <a:spcPts val="1200"/>
              </a:spcAft>
              <a:buSzPts val="13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7"/>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Why Use Fundamental Data and Macroeconomic Indicators?</a:t>
            </a:r>
            <a:endParaRPr/>
          </a:p>
        </p:txBody>
      </p:sp>
      <p:sp>
        <p:nvSpPr>
          <p:cNvPr id="192" name="Google Shape;192;p27"/>
          <p:cNvSpPr txBox="1"/>
          <p:nvPr>
            <p:ph idx="1" type="body"/>
          </p:nvPr>
        </p:nvSpPr>
        <p:spPr>
          <a:xfrm>
            <a:off x="1297500" y="1359525"/>
            <a:ext cx="7966200" cy="35799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0"/>
              </a:spcAft>
              <a:buSzPct val="117647"/>
              <a:buNone/>
            </a:pPr>
            <a:r>
              <a:rPr b="1" lang="en"/>
              <a:t>Fundamental Data:</a:t>
            </a:r>
            <a:endParaRPr b="1"/>
          </a:p>
          <a:p>
            <a:pPr indent="0" lvl="0" marL="0" rtl="0" algn="l">
              <a:lnSpc>
                <a:spcPct val="115000"/>
              </a:lnSpc>
              <a:spcBef>
                <a:spcPts val="1200"/>
              </a:spcBef>
              <a:spcAft>
                <a:spcPts val="0"/>
              </a:spcAft>
              <a:buSzPct val="117647"/>
              <a:buNone/>
            </a:pPr>
            <a:r>
              <a:rPr lang="en"/>
              <a:t>● Includes metrics like balance sheets, earnings, and P/E ratios.</a:t>
            </a:r>
            <a:endParaRPr/>
          </a:p>
          <a:p>
            <a:pPr indent="0" lvl="0" marL="0" rtl="0" algn="l">
              <a:lnSpc>
                <a:spcPct val="115000"/>
              </a:lnSpc>
              <a:spcBef>
                <a:spcPts val="1200"/>
              </a:spcBef>
              <a:spcAft>
                <a:spcPts val="0"/>
              </a:spcAft>
              <a:buSzPct val="117647"/>
              <a:buNone/>
            </a:pPr>
            <a:r>
              <a:rPr lang="en"/>
              <a:t>● Reflects a company’s financial health and operational performance.</a:t>
            </a:r>
            <a:endParaRPr/>
          </a:p>
          <a:p>
            <a:pPr indent="0" lvl="0" marL="0" rtl="0" algn="l">
              <a:lnSpc>
                <a:spcPct val="115000"/>
              </a:lnSpc>
              <a:spcBef>
                <a:spcPts val="1200"/>
              </a:spcBef>
              <a:spcAft>
                <a:spcPts val="0"/>
              </a:spcAft>
              <a:buSzPct val="117647"/>
              <a:buNone/>
            </a:pPr>
            <a:r>
              <a:rPr lang="en"/>
              <a:t>● Helps assess intrinsic value and growth potential.</a:t>
            </a:r>
            <a:endParaRPr/>
          </a:p>
          <a:p>
            <a:pPr indent="0" lvl="0" marL="0" rtl="0" algn="l">
              <a:lnSpc>
                <a:spcPct val="115000"/>
              </a:lnSpc>
              <a:spcBef>
                <a:spcPts val="1200"/>
              </a:spcBef>
              <a:spcAft>
                <a:spcPts val="0"/>
              </a:spcAft>
              <a:buSzPct val="117647"/>
              <a:buNone/>
            </a:pPr>
            <a:r>
              <a:rPr b="1" lang="en"/>
              <a:t>Macroeconomic Indicators:</a:t>
            </a:r>
            <a:endParaRPr b="1"/>
          </a:p>
          <a:p>
            <a:pPr indent="0" lvl="0" marL="0" rtl="0" algn="l">
              <a:lnSpc>
                <a:spcPct val="115000"/>
              </a:lnSpc>
              <a:spcBef>
                <a:spcPts val="1200"/>
              </a:spcBef>
              <a:spcAft>
                <a:spcPts val="0"/>
              </a:spcAft>
              <a:buSzPct val="117647"/>
              <a:buNone/>
            </a:pPr>
            <a:r>
              <a:rPr lang="en"/>
              <a:t>● Includes GDP, inflation rate, interest rate, unemployment rate etc.</a:t>
            </a:r>
            <a:endParaRPr/>
          </a:p>
          <a:p>
            <a:pPr indent="0" lvl="0" marL="0" rtl="0" algn="l">
              <a:lnSpc>
                <a:spcPct val="115000"/>
              </a:lnSpc>
              <a:spcBef>
                <a:spcPts val="1200"/>
              </a:spcBef>
              <a:spcAft>
                <a:spcPts val="0"/>
              </a:spcAft>
              <a:buSzPct val="117647"/>
              <a:buNone/>
            </a:pPr>
            <a:r>
              <a:rPr lang="en"/>
              <a:t>● Reflects the broader economic environment and market sentiment.</a:t>
            </a:r>
            <a:endParaRPr/>
          </a:p>
          <a:p>
            <a:pPr indent="0" lvl="0" marL="0" rtl="0" algn="l">
              <a:lnSpc>
                <a:spcPct val="115000"/>
              </a:lnSpc>
              <a:spcBef>
                <a:spcPts val="1200"/>
              </a:spcBef>
              <a:spcAft>
                <a:spcPts val="0"/>
              </a:spcAft>
              <a:buSzPct val="117647"/>
              <a:buNone/>
            </a:pPr>
            <a:r>
              <a:rPr lang="en"/>
              <a:t>● Influences stock prices across industries.</a:t>
            </a:r>
            <a:endParaRPr/>
          </a:p>
          <a:p>
            <a:pPr indent="0" lvl="0" marL="0" rtl="0" algn="l">
              <a:lnSpc>
                <a:spcPct val="115000"/>
              </a:lnSpc>
              <a:spcBef>
                <a:spcPts val="1200"/>
              </a:spcBef>
              <a:spcAft>
                <a:spcPts val="0"/>
              </a:spcAft>
              <a:buSzPct val="117647"/>
              <a:buNone/>
            </a:pPr>
            <a:r>
              <a:rPr b="1" lang="en"/>
              <a:t>Combined Approach:</a:t>
            </a:r>
            <a:endParaRPr b="1"/>
          </a:p>
          <a:p>
            <a:pPr indent="0" lvl="0" marL="0" rtl="0" algn="l">
              <a:lnSpc>
                <a:spcPct val="115000"/>
              </a:lnSpc>
              <a:spcBef>
                <a:spcPts val="1200"/>
              </a:spcBef>
              <a:spcAft>
                <a:spcPts val="0"/>
              </a:spcAft>
              <a:buSzPct val="117647"/>
              <a:buNone/>
            </a:pPr>
            <a:r>
              <a:rPr lang="en"/>
              <a:t>● Captures both company-specific and external economic factors.</a:t>
            </a:r>
            <a:endParaRPr/>
          </a:p>
          <a:p>
            <a:pPr indent="0" lvl="0" marL="0" rtl="0" algn="l">
              <a:lnSpc>
                <a:spcPct val="115000"/>
              </a:lnSpc>
              <a:spcBef>
                <a:spcPts val="1200"/>
              </a:spcBef>
              <a:spcAft>
                <a:spcPts val="1200"/>
              </a:spcAft>
              <a:buSzPct val="117647"/>
              <a:buNone/>
            </a:pPr>
            <a:r>
              <a:rPr lang="en"/>
              <a:t>● Provides a holistic and accurate method for stock price prediction.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8"/>
          <p:cNvSpPr txBox="1"/>
          <p:nvPr>
            <p:ph type="title"/>
          </p:nvPr>
        </p:nvSpPr>
        <p:spPr>
          <a:xfrm>
            <a:off x="1216875" y="413175"/>
            <a:ext cx="7038900" cy="565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
              <a:t>Literature Survey</a:t>
            </a:r>
            <a:endParaRPr/>
          </a:p>
        </p:txBody>
      </p:sp>
      <p:graphicFrame>
        <p:nvGraphicFramePr>
          <p:cNvPr id="198" name="Google Shape;198;p28"/>
          <p:cNvGraphicFramePr/>
          <p:nvPr/>
        </p:nvGraphicFramePr>
        <p:xfrm>
          <a:off x="493175" y="1280363"/>
          <a:ext cx="3000000" cy="3000000"/>
        </p:xfrm>
        <a:graphic>
          <a:graphicData uri="http://schemas.openxmlformats.org/drawingml/2006/table">
            <a:tbl>
              <a:tblPr>
                <a:noFill/>
                <a:tableStyleId>{934E3C39-5444-435C-871D-0D581668D085}</a:tableStyleId>
              </a:tblPr>
              <a:tblGrid>
                <a:gridCol w="723700"/>
                <a:gridCol w="1310275"/>
                <a:gridCol w="2835300"/>
                <a:gridCol w="3057525"/>
              </a:tblGrid>
              <a:tr h="422600">
                <a:tc>
                  <a:txBody>
                    <a:bodyPr/>
                    <a:lstStyle/>
                    <a:p>
                      <a:pPr indent="0" lvl="0" marL="0" rtl="0" algn="l">
                        <a:spcBef>
                          <a:spcPts val="0"/>
                        </a:spcBef>
                        <a:spcAft>
                          <a:spcPts val="0"/>
                        </a:spcAft>
                        <a:buNone/>
                      </a:pPr>
                      <a:r>
                        <a:rPr lang="en" sz="900">
                          <a:solidFill>
                            <a:schemeClr val="lt1"/>
                          </a:solidFill>
                        </a:rPr>
                        <a:t>S.No.</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en" sz="900">
                          <a:solidFill>
                            <a:schemeClr val="lt1"/>
                          </a:solidFill>
                        </a:rPr>
                        <a:t>Paper No.</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en" sz="900">
                          <a:solidFill>
                            <a:schemeClr val="lt1"/>
                          </a:solidFill>
                        </a:rPr>
                        <a:t>Model</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en" sz="900">
                          <a:solidFill>
                            <a:schemeClr val="lt1"/>
                          </a:solidFill>
                        </a:rPr>
                        <a:t>Insights</a:t>
                      </a:r>
                      <a:endParaRPr sz="900">
                        <a:solidFill>
                          <a:schemeClr val="lt1"/>
                        </a:solidFill>
                      </a:endParaRPr>
                    </a:p>
                  </a:txBody>
                  <a:tcPr marT="91425" marB="91425" marR="91425" marL="91425"/>
                </a:tc>
              </a:tr>
              <a:tr h="414250">
                <a:tc>
                  <a:txBody>
                    <a:bodyPr/>
                    <a:lstStyle/>
                    <a:p>
                      <a:pPr indent="0" lvl="0" marL="0" rtl="0" algn="l">
                        <a:spcBef>
                          <a:spcPts val="0"/>
                        </a:spcBef>
                        <a:spcAft>
                          <a:spcPts val="0"/>
                        </a:spcAft>
                        <a:buNone/>
                      </a:pPr>
                      <a:r>
                        <a:rPr lang="en" sz="900">
                          <a:solidFill>
                            <a:schemeClr val="lt1"/>
                          </a:solidFill>
                        </a:rPr>
                        <a:t>1</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en" sz="900">
                          <a:solidFill>
                            <a:schemeClr val="lt1"/>
                          </a:solidFill>
                        </a:rPr>
                        <a:t>[3, 7, 12]</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en" sz="900">
                          <a:solidFill>
                            <a:schemeClr val="lt1"/>
                          </a:solidFill>
                        </a:rPr>
                        <a:t>ARIMA</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en" sz="900">
                          <a:solidFill>
                            <a:schemeClr val="lt1"/>
                          </a:solidFill>
                        </a:rPr>
                        <a:t>these models assume stationarity in data, making them less effective in volatile stock markets</a:t>
                      </a:r>
                      <a:endParaRPr sz="900">
                        <a:solidFill>
                          <a:schemeClr val="lt1"/>
                        </a:solidFill>
                      </a:endParaRPr>
                    </a:p>
                  </a:txBody>
                  <a:tcPr marT="91425" marB="91425" marR="91425" marL="91425"/>
                </a:tc>
              </a:tr>
              <a:tr h="414250">
                <a:tc>
                  <a:txBody>
                    <a:bodyPr/>
                    <a:lstStyle/>
                    <a:p>
                      <a:pPr indent="0" lvl="0" marL="0" rtl="0" algn="l">
                        <a:spcBef>
                          <a:spcPts val="0"/>
                        </a:spcBef>
                        <a:spcAft>
                          <a:spcPts val="0"/>
                        </a:spcAft>
                        <a:buNone/>
                      </a:pPr>
                      <a:r>
                        <a:rPr lang="en" sz="900">
                          <a:solidFill>
                            <a:schemeClr val="lt1"/>
                          </a:solidFill>
                        </a:rPr>
                        <a:t>2</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en" sz="900">
                          <a:solidFill>
                            <a:schemeClr val="lt1"/>
                          </a:solidFill>
                        </a:rPr>
                        <a:t>[5, 9, 14]</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en" sz="900">
                          <a:solidFill>
                            <a:schemeClr val="lt1"/>
                          </a:solidFill>
                        </a:rPr>
                        <a:t>Random Forest and Decision Trees</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en" sz="900">
                          <a:solidFill>
                            <a:schemeClr val="lt1"/>
                          </a:solidFill>
                        </a:rPr>
                        <a:t>they lack sequential memory, limiting their performance in time-series forecasting</a:t>
                      </a:r>
                      <a:endParaRPr sz="900">
                        <a:solidFill>
                          <a:schemeClr val="lt1"/>
                        </a:solidFill>
                      </a:endParaRPr>
                    </a:p>
                  </a:txBody>
                  <a:tcPr marT="91425" marB="91425" marR="91425" marL="91425"/>
                </a:tc>
              </a:tr>
              <a:tr h="414250">
                <a:tc>
                  <a:txBody>
                    <a:bodyPr/>
                    <a:lstStyle/>
                    <a:p>
                      <a:pPr indent="0" lvl="0" marL="0" rtl="0" algn="l">
                        <a:spcBef>
                          <a:spcPts val="0"/>
                        </a:spcBef>
                        <a:spcAft>
                          <a:spcPts val="0"/>
                        </a:spcAft>
                        <a:buNone/>
                      </a:pPr>
                      <a:r>
                        <a:rPr lang="en" sz="900">
                          <a:solidFill>
                            <a:schemeClr val="lt1"/>
                          </a:solidFill>
                        </a:rPr>
                        <a:t>3</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en" sz="900">
                          <a:solidFill>
                            <a:schemeClr val="lt1"/>
                          </a:solidFill>
                        </a:rPr>
                        <a:t>[2, 8, 11, 17, 20]</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en" sz="900">
                          <a:solidFill>
                            <a:schemeClr val="lt1"/>
                          </a:solidFill>
                        </a:rPr>
                        <a:t>Extreme Gradient Boosting (XGBoost)</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en" sz="900">
                          <a:solidFill>
                            <a:schemeClr val="lt1"/>
                          </a:solidFill>
                        </a:rPr>
                        <a:t>it naturally lacks the ability to understand time-based relationships in the data</a:t>
                      </a:r>
                      <a:endParaRPr sz="900">
                        <a:solidFill>
                          <a:schemeClr val="lt1"/>
                        </a:solidFill>
                      </a:endParaRPr>
                    </a:p>
                  </a:txBody>
                  <a:tcPr marT="91425" marB="91425" marR="91425" marL="91425"/>
                </a:tc>
              </a:tr>
              <a:tr h="414250">
                <a:tc>
                  <a:txBody>
                    <a:bodyPr/>
                    <a:lstStyle/>
                    <a:p>
                      <a:pPr indent="0" lvl="0" marL="0" rtl="0" algn="l">
                        <a:spcBef>
                          <a:spcPts val="0"/>
                        </a:spcBef>
                        <a:spcAft>
                          <a:spcPts val="0"/>
                        </a:spcAft>
                        <a:buNone/>
                      </a:pPr>
                      <a:r>
                        <a:rPr lang="en" sz="900">
                          <a:solidFill>
                            <a:schemeClr val="lt1"/>
                          </a:solidFill>
                        </a:rPr>
                        <a:t>4.</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en" sz="900">
                          <a:solidFill>
                            <a:schemeClr val="lt1"/>
                          </a:solidFill>
                        </a:rPr>
                        <a:t>[6, 13, 18]</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en" sz="900">
                          <a:solidFill>
                            <a:schemeClr val="lt1"/>
                          </a:solidFill>
                        </a:rPr>
                        <a:t>Hybrid Models (SVR + XGBoost, ARIMA + XGBoost)</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en" sz="900">
                          <a:solidFill>
                            <a:schemeClr val="lt1"/>
                          </a:solidFill>
                        </a:rPr>
                        <a:t>ARIMA is often used to model linear trends, while XGBoost is applied for nonlinear feature extraction, improving overall accuracy</a:t>
                      </a:r>
                      <a:endParaRPr sz="900">
                        <a:solidFill>
                          <a:schemeClr val="lt1"/>
                        </a:solidFill>
                      </a:endParaRPr>
                    </a:p>
                  </a:txBody>
                  <a:tcPr marT="91425" marB="91425" marR="91425" marL="91425"/>
                </a:tc>
              </a:tr>
              <a:tr h="414250">
                <a:tc>
                  <a:txBody>
                    <a:bodyPr/>
                    <a:lstStyle/>
                    <a:p>
                      <a:pPr indent="0" lvl="0" marL="0" rtl="0" algn="l">
                        <a:spcBef>
                          <a:spcPts val="0"/>
                        </a:spcBef>
                        <a:spcAft>
                          <a:spcPts val="0"/>
                        </a:spcAft>
                        <a:buNone/>
                      </a:pPr>
                      <a:r>
                        <a:rPr lang="en" sz="900">
                          <a:solidFill>
                            <a:schemeClr val="lt1"/>
                          </a:solidFill>
                        </a:rPr>
                        <a:t>5</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en" sz="900">
                          <a:solidFill>
                            <a:schemeClr val="lt1"/>
                          </a:solidFill>
                        </a:rPr>
                        <a:t>[1, 4, 6, 10, 15, 18]</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en" sz="900">
                          <a:solidFill>
                            <a:schemeClr val="lt1"/>
                          </a:solidFill>
                        </a:rPr>
                        <a:t>Long Short-Term Memory (LSTM)</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en" sz="900">
                          <a:solidFill>
                            <a:schemeClr val="lt1"/>
                          </a:solidFill>
                        </a:rPr>
                        <a:t>they sometimes fail to respond to short-term fluctuations and external market factors</a:t>
                      </a:r>
                      <a:endParaRPr sz="900">
                        <a:solidFill>
                          <a:schemeClr val="lt1"/>
                        </a:solidFill>
                      </a:endParaRPr>
                    </a:p>
                  </a:txBody>
                  <a:tcPr marT="91425" marB="91425" marR="91425" marL="91425"/>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graphicFrame>
        <p:nvGraphicFramePr>
          <p:cNvPr id="203" name="Google Shape;203;p29"/>
          <p:cNvGraphicFramePr/>
          <p:nvPr/>
        </p:nvGraphicFramePr>
        <p:xfrm>
          <a:off x="532050" y="1500688"/>
          <a:ext cx="3000000" cy="3000000"/>
        </p:xfrm>
        <a:graphic>
          <a:graphicData uri="http://schemas.openxmlformats.org/drawingml/2006/table">
            <a:tbl>
              <a:tblPr>
                <a:noFill/>
                <a:tableStyleId>{934E3C39-5444-435C-871D-0D581668D085}</a:tableStyleId>
              </a:tblPr>
              <a:tblGrid>
                <a:gridCol w="723700"/>
                <a:gridCol w="1310275"/>
                <a:gridCol w="2835300"/>
                <a:gridCol w="3057525"/>
              </a:tblGrid>
              <a:tr h="414250">
                <a:tc>
                  <a:txBody>
                    <a:bodyPr/>
                    <a:lstStyle/>
                    <a:p>
                      <a:pPr indent="0" lvl="0" marL="0" rtl="0" algn="l">
                        <a:spcBef>
                          <a:spcPts val="0"/>
                        </a:spcBef>
                        <a:spcAft>
                          <a:spcPts val="0"/>
                        </a:spcAft>
                        <a:buNone/>
                      </a:pPr>
                      <a:r>
                        <a:rPr lang="en" sz="900">
                          <a:solidFill>
                            <a:schemeClr val="lt1"/>
                          </a:solidFill>
                        </a:rPr>
                        <a:t>6</a:t>
                      </a:r>
                      <a:endParaRPr sz="900">
                        <a:solidFill>
                          <a:schemeClr val="lt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900">
                          <a:solidFill>
                            <a:schemeClr val="lt1"/>
                          </a:solidFill>
                        </a:rPr>
                        <a:t>[7, 11, 16]</a:t>
                      </a:r>
                      <a:endParaRPr sz="900">
                        <a:solidFill>
                          <a:schemeClr val="lt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900">
                          <a:solidFill>
                            <a:schemeClr val="lt1"/>
                          </a:solidFill>
                        </a:rPr>
                        <a:t>Attention-Based Mechanisms</a:t>
                      </a:r>
                      <a:endParaRPr sz="900">
                        <a:solidFill>
                          <a:schemeClr val="lt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900">
                          <a:solidFill>
                            <a:schemeClr val="lt1"/>
                          </a:solidFill>
                        </a:rPr>
                        <a:t>enhanced LSTM performance using attention mechanisms, which prioritize significant time steps in sequential data</a:t>
                      </a:r>
                      <a:endParaRPr sz="900">
                        <a:solidFill>
                          <a:schemeClr val="lt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14250">
                <a:tc>
                  <a:txBody>
                    <a:bodyPr/>
                    <a:lstStyle/>
                    <a:p>
                      <a:pPr indent="0" lvl="0" marL="0" rtl="0" algn="l">
                        <a:spcBef>
                          <a:spcPts val="0"/>
                        </a:spcBef>
                        <a:spcAft>
                          <a:spcPts val="0"/>
                        </a:spcAft>
                        <a:buNone/>
                      </a:pPr>
                      <a:r>
                        <a:rPr lang="en" sz="900">
                          <a:solidFill>
                            <a:schemeClr val="lt1"/>
                          </a:solidFill>
                        </a:rPr>
                        <a:t>7</a:t>
                      </a:r>
                      <a:endParaRPr sz="900">
                        <a:solidFill>
                          <a:schemeClr val="lt1"/>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sz="900">
                          <a:solidFill>
                            <a:schemeClr val="lt1"/>
                          </a:solidFill>
                        </a:rPr>
                        <a:t>[12, 19]</a:t>
                      </a:r>
                      <a:endParaRPr sz="900">
                        <a:solidFill>
                          <a:schemeClr val="lt1"/>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sz="900">
                          <a:solidFill>
                            <a:schemeClr val="lt1"/>
                          </a:solidFill>
                        </a:rPr>
                        <a:t>Autoencoder-Based Anomaly Detection</a:t>
                      </a:r>
                      <a:endParaRPr sz="900">
                        <a:solidFill>
                          <a:schemeClr val="lt1"/>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sz="900">
                          <a:solidFill>
                            <a:schemeClr val="lt1"/>
                          </a:solidFill>
                        </a:rPr>
                        <a:t>technique that reconstructs normal data patterns and flags deviations</a:t>
                      </a:r>
                      <a:endParaRPr sz="900">
                        <a:solidFill>
                          <a:schemeClr val="lt1"/>
                        </a:solidFill>
                      </a:endParaRPr>
                    </a:p>
                  </a:txBody>
                  <a:tcPr marT="91425" marB="91425" marR="91425" marL="91425">
                    <a:lnT cap="flat" cmpd="sng" w="9525">
                      <a:solidFill>
                        <a:srgbClr val="9E9E9E"/>
                      </a:solidFill>
                      <a:prstDash val="solid"/>
                      <a:round/>
                      <a:headEnd len="sm" w="sm" type="none"/>
                      <a:tailEnd len="sm" w="sm" type="none"/>
                    </a:lnT>
                  </a:tcPr>
                </a:tc>
              </a:tr>
              <a:tr h="414250">
                <a:tc>
                  <a:txBody>
                    <a:bodyPr/>
                    <a:lstStyle/>
                    <a:p>
                      <a:pPr indent="0" lvl="0" marL="0" rtl="0" algn="l">
                        <a:spcBef>
                          <a:spcPts val="0"/>
                        </a:spcBef>
                        <a:spcAft>
                          <a:spcPts val="0"/>
                        </a:spcAft>
                        <a:buNone/>
                      </a:pPr>
                      <a:r>
                        <a:rPr lang="en" sz="900">
                          <a:solidFill>
                            <a:schemeClr val="lt1"/>
                          </a:solidFill>
                        </a:rPr>
                        <a:t>8</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en" sz="900">
                          <a:solidFill>
                            <a:schemeClr val="lt1"/>
                          </a:solidFill>
                        </a:rPr>
                        <a:t>[8 , 10 , 12 , 13]</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en" sz="900">
                          <a:solidFill>
                            <a:schemeClr val="lt1"/>
                          </a:solidFill>
                        </a:rPr>
                        <a:t>Isolation Forest for anomaly detection</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en" sz="900">
                          <a:solidFill>
                            <a:schemeClr val="lt1"/>
                          </a:solidFill>
                        </a:rPr>
                        <a:t>Detect and removed anomalies in high-dimensional data, ensuring cleaner and more reliable input for model training</a:t>
                      </a:r>
                      <a:endParaRPr sz="900">
                        <a:solidFill>
                          <a:schemeClr val="lt1"/>
                        </a:solidFill>
                      </a:endParaRPr>
                    </a:p>
                  </a:txBody>
                  <a:tcPr marT="91425" marB="91425" marR="91425" marL="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0"/>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
              <a:t>Data Preprocessing</a:t>
            </a:r>
            <a:endParaRPr/>
          </a:p>
        </p:txBody>
      </p:sp>
      <p:sp>
        <p:nvSpPr>
          <p:cNvPr id="209" name="Google Shape;209;p30"/>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300"/>
              <a:buNone/>
            </a:pPr>
            <a:r>
              <a:rPr lang="en"/>
              <a:t>1. </a:t>
            </a:r>
            <a:r>
              <a:rPr b="1" lang="en"/>
              <a:t>Stock Prices (Yahoo Finance)</a:t>
            </a:r>
            <a:r>
              <a:rPr lang="en"/>
              <a:t>: </a:t>
            </a:r>
            <a:r>
              <a:rPr lang="en"/>
              <a:t>Daily stock data for Google, Amazon, Apple, Tesla, and Nvidia,</a:t>
            </a:r>
            <a:endParaRPr/>
          </a:p>
          <a:p>
            <a:pPr indent="0" lvl="0" marL="0" rtl="0" algn="l">
              <a:lnSpc>
                <a:spcPct val="115000"/>
              </a:lnSpc>
              <a:spcBef>
                <a:spcPts val="0"/>
              </a:spcBef>
              <a:spcAft>
                <a:spcPts val="0"/>
              </a:spcAft>
              <a:buSzPts val="1300"/>
              <a:buNone/>
            </a:pPr>
            <a:r>
              <a:t/>
            </a:r>
            <a:endParaRPr/>
          </a:p>
          <a:p>
            <a:pPr indent="0" lvl="0" marL="0" rtl="0" algn="l">
              <a:lnSpc>
                <a:spcPct val="115000"/>
              </a:lnSpc>
              <a:spcBef>
                <a:spcPts val="0"/>
              </a:spcBef>
              <a:spcAft>
                <a:spcPts val="0"/>
              </a:spcAft>
              <a:buSzPts val="1300"/>
              <a:buNone/>
            </a:pPr>
            <a:r>
              <a:rPr lang="en"/>
              <a:t> including open, high, low, close, and volume prices, collected from the earliest available records </a:t>
            </a:r>
            <a:endParaRPr/>
          </a:p>
          <a:p>
            <a:pPr indent="0" lvl="0" marL="0" rtl="0" algn="l">
              <a:lnSpc>
                <a:spcPct val="115000"/>
              </a:lnSpc>
              <a:spcBef>
                <a:spcPts val="0"/>
              </a:spcBef>
              <a:spcAft>
                <a:spcPts val="0"/>
              </a:spcAft>
              <a:buSzPts val="1300"/>
              <a:buNone/>
            </a:pPr>
            <a:r>
              <a:t/>
            </a:r>
            <a:endParaRPr/>
          </a:p>
          <a:p>
            <a:pPr indent="0" lvl="0" marL="0" rtl="0" algn="l">
              <a:lnSpc>
                <a:spcPct val="115000"/>
              </a:lnSpc>
              <a:spcBef>
                <a:spcPts val="0"/>
              </a:spcBef>
              <a:spcAft>
                <a:spcPts val="0"/>
              </a:spcAft>
              <a:buSzPts val="1300"/>
              <a:buNone/>
            </a:pPr>
            <a:r>
              <a:rPr lang="en"/>
              <a:t>to the most recent.</a:t>
            </a:r>
            <a:endParaRPr/>
          </a:p>
          <a:p>
            <a:pPr indent="0" lvl="0" marL="0" rtl="0" algn="l">
              <a:lnSpc>
                <a:spcPct val="115000"/>
              </a:lnSpc>
              <a:spcBef>
                <a:spcPts val="1200"/>
              </a:spcBef>
              <a:spcAft>
                <a:spcPts val="0"/>
              </a:spcAft>
              <a:buSzPts val="1300"/>
              <a:buNone/>
            </a:pPr>
            <a:r>
              <a:rPr lang="en"/>
              <a:t>2. </a:t>
            </a:r>
            <a:r>
              <a:rPr b="1" lang="en"/>
              <a:t>Financial Fundamentals (Alpha Vantage)</a:t>
            </a:r>
            <a:r>
              <a:rPr lang="en"/>
              <a:t>: Quarterly financial metrics like EPS,</a:t>
            </a:r>
            <a:endParaRPr/>
          </a:p>
          <a:p>
            <a:pPr indent="0" lvl="0" marL="0" rtl="0" algn="l">
              <a:lnSpc>
                <a:spcPct val="115000"/>
              </a:lnSpc>
              <a:spcBef>
                <a:spcPts val="1200"/>
              </a:spcBef>
              <a:spcAft>
                <a:spcPts val="0"/>
              </a:spcAft>
              <a:buSzPts val="1300"/>
              <a:buNone/>
            </a:pPr>
            <a:r>
              <a:rPr lang="en"/>
              <a:t>ROE, balance sheets, and income statements, ensuring consistent quarterly</a:t>
            </a:r>
            <a:endParaRPr/>
          </a:p>
          <a:p>
            <a:pPr indent="0" lvl="0" marL="0" rtl="0" algn="l">
              <a:lnSpc>
                <a:spcPct val="115000"/>
              </a:lnSpc>
              <a:spcBef>
                <a:spcPts val="1200"/>
              </a:spcBef>
              <a:spcAft>
                <a:spcPts val="0"/>
              </a:spcAft>
              <a:buSzPts val="1300"/>
              <a:buNone/>
            </a:pPr>
            <a:r>
              <a:rPr lang="en"/>
              <a:t>frequency.</a:t>
            </a:r>
            <a:endParaRPr/>
          </a:p>
          <a:p>
            <a:pPr indent="0" lvl="0" marL="0" rtl="0" algn="l">
              <a:lnSpc>
                <a:spcPct val="115000"/>
              </a:lnSpc>
              <a:spcBef>
                <a:spcPts val="1200"/>
              </a:spcBef>
              <a:spcAft>
                <a:spcPts val="0"/>
              </a:spcAft>
              <a:buSzPts val="1300"/>
              <a:buNone/>
            </a:pPr>
            <a:r>
              <a:rPr lang="en"/>
              <a:t>3. </a:t>
            </a:r>
            <a:r>
              <a:rPr b="1" lang="en"/>
              <a:t>Macroeconomic Indicators (FRED)</a:t>
            </a:r>
            <a:r>
              <a:rPr lang="en"/>
              <a:t>: Monthly/quarterly GDP, inflation, and</a:t>
            </a:r>
            <a:endParaRPr/>
          </a:p>
          <a:p>
            <a:pPr indent="0" lvl="0" marL="0" rtl="0" algn="l">
              <a:lnSpc>
                <a:spcPct val="115000"/>
              </a:lnSpc>
              <a:spcBef>
                <a:spcPts val="1200"/>
              </a:spcBef>
              <a:spcAft>
                <a:spcPts val="1200"/>
              </a:spcAft>
              <a:buSzPts val="1300"/>
              <a:buNone/>
            </a:pPr>
            <a:r>
              <a:rPr lang="en"/>
              <a:t>interest rate data aligned with company fundamentals for temporal consistency.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1"/>
          <p:cNvSpPr txBox="1"/>
          <p:nvPr>
            <p:ph idx="1" type="body"/>
          </p:nvPr>
        </p:nvSpPr>
        <p:spPr>
          <a:xfrm>
            <a:off x="1112100" y="407775"/>
            <a:ext cx="7488300" cy="4355700"/>
          </a:xfrm>
          <a:prstGeom prst="rect">
            <a:avLst/>
          </a:prstGeom>
        </p:spPr>
        <p:txBody>
          <a:bodyPr anchorCtr="0" anchor="t" bIns="91425" lIns="91425" spcFirstLastPara="1" rIns="91425" wrap="square" tIns="91425">
            <a:normAutofit fontScale="85000" lnSpcReduction="20000"/>
          </a:bodyPr>
          <a:lstStyle/>
          <a:p>
            <a:pPr indent="0" lvl="0" marL="0" rtl="0" algn="l">
              <a:spcBef>
                <a:spcPts val="1400"/>
              </a:spcBef>
              <a:spcAft>
                <a:spcPts val="0"/>
              </a:spcAft>
              <a:buNone/>
            </a:pPr>
            <a:r>
              <a:rPr b="1" lang="en" sz="1870">
                <a:highlight>
                  <a:schemeClr val="dk1"/>
                </a:highlight>
                <a:latin typeface="Arial"/>
                <a:ea typeface="Arial"/>
                <a:cs typeface="Arial"/>
                <a:sym typeface="Arial"/>
              </a:rPr>
              <a:t>Data Merging &amp; Temporal Alignment</a:t>
            </a:r>
            <a:endParaRPr b="1" sz="1870">
              <a:highlight>
                <a:schemeClr val="dk1"/>
              </a:highlight>
              <a:latin typeface="Arial"/>
              <a:ea typeface="Arial"/>
              <a:cs typeface="Arial"/>
              <a:sym typeface="Arial"/>
            </a:endParaRPr>
          </a:p>
          <a:p>
            <a:pPr indent="-304165" lvl="0" marL="457200" rtl="0" algn="l">
              <a:spcBef>
                <a:spcPts val="1200"/>
              </a:spcBef>
              <a:spcAft>
                <a:spcPts val="0"/>
              </a:spcAft>
              <a:buClr>
                <a:schemeClr val="lt1"/>
              </a:buClr>
              <a:buSzPct val="100000"/>
              <a:buFont typeface="Arial"/>
              <a:buChar char="●"/>
            </a:pPr>
            <a:r>
              <a:rPr b="1" lang="en" sz="1400">
                <a:highlight>
                  <a:schemeClr val="dk1"/>
                </a:highlight>
                <a:latin typeface="Arial"/>
                <a:ea typeface="Arial"/>
                <a:cs typeface="Arial"/>
                <a:sym typeface="Arial"/>
              </a:rPr>
              <a:t>Frequency mismatches</a:t>
            </a:r>
            <a:r>
              <a:rPr lang="en" sz="1400">
                <a:highlight>
                  <a:schemeClr val="dk1"/>
                </a:highlight>
                <a:latin typeface="Arial"/>
                <a:ea typeface="Arial"/>
                <a:cs typeface="Arial"/>
                <a:sym typeface="Arial"/>
              </a:rPr>
              <a:t> (e.g., daily vs. quarterly) were resolved using:</a:t>
            </a:r>
            <a:br>
              <a:rPr lang="en" sz="1400">
                <a:highlight>
                  <a:schemeClr val="dk1"/>
                </a:highlight>
                <a:latin typeface="Arial"/>
                <a:ea typeface="Arial"/>
                <a:cs typeface="Arial"/>
                <a:sym typeface="Arial"/>
              </a:rPr>
            </a:br>
            <a:endParaRPr sz="1400">
              <a:highlight>
                <a:schemeClr val="dk1"/>
              </a:highlight>
              <a:latin typeface="Arial"/>
              <a:ea typeface="Arial"/>
              <a:cs typeface="Arial"/>
              <a:sym typeface="Arial"/>
            </a:endParaRPr>
          </a:p>
          <a:p>
            <a:pPr indent="-304165" lvl="1" marL="914400" rtl="0" algn="l">
              <a:spcBef>
                <a:spcPts val="0"/>
              </a:spcBef>
              <a:spcAft>
                <a:spcPts val="0"/>
              </a:spcAft>
              <a:buClr>
                <a:schemeClr val="lt1"/>
              </a:buClr>
              <a:buSzPct val="100000"/>
              <a:buFont typeface="Arial"/>
              <a:buChar char="○"/>
            </a:pPr>
            <a:r>
              <a:rPr b="1" lang="en" sz="1400">
                <a:highlight>
                  <a:schemeClr val="dk1"/>
                </a:highlight>
                <a:latin typeface="Arial"/>
                <a:ea typeface="Arial"/>
                <a:cs typeface="Arial"/>
                <a:sym typeface="Arial"/>
              </a:rPr>
              <a:t>Interpolation</a:t>
            </a:r>
            <a:r>
              <a:rPr lang="en" sz="1400">
                <a:highlight>
                  <a:schemeClr val="dk1"/>
                </a:highlight>
                <a:latin typeface="Arial"/>
                <a:ea typeface="Arial"/>
                <a:cs typeface="Arial"/>
                <a:sym typeface="Arial"/>
              </a:rPr>
              <a:t> for continuous values.</a:t>
            </a:r>
            <a:br>
              <a:rPr lang="en" sz="1400">
                <a:highlight>
                  <a:schemeClr val="dk1"/>
                </a:highlight>
                <a:latin typeface="Arial"/>
                <a:ea typeface="Arial"/>
                <a:cs typeface="Arial"/>
                <a:sym typeface="Arial"/>
              </a:rPr>
            </a:br>
            <a:endParaRPr sz="1400">
              <a:highlight>
                <a:schemeClr val="dk1"/>
              </a:highlight>
              <a:latin typeface="Arial"/>
              <a:ea typeface="Arial"/>
              <a:cs typeface="Arial"/>
              <a:sym typeface="Arial"/>
            </a:endParaRPr>
          </a:p>
          <a:p>
            <a:pPr indent="-304165" lvl="1" marL="914400" rtl="0" algn="l">
              <a:spcBef>
                <a:spcPts val="0"/>
              </a:spcBef>
              <a:spcAft>
                <a:spcPts val="0"/>
              </a:spcAft>
              <a:buClr>
                <a:schemeClr val="lt1"/>
              </a:buClr>
              <a:buSzPct val="100000"/>
              <a:buFont typeface="Arial"/>
              <a:buChar char="○"/>
            </a:pPr>
            <a:r>
              <a:rPr b="1" lang="en" sz="1400">
                <a:highlight>
                  <a:schemeClr val="dk1"/>
                </a:highlight>
                <a:latin typeface="Arial"/>
                <a:ea typeface="Arial"/>
                <a:cs typeface="Arial"/>
                <a:sym typeface="Arial"/>
              </a:rPr>
              <a:t>Aggregation</a:t>
            </a:r>
            <a:r>
              <a:rPr lang="en" sz="1400">
                <a:highlight>
                  <a:schemeClr val="dk1"/>
                </a:highlight>
                <a:latin typeface="Arial"/>
                <a:ea typeface="Arial"/>
                <a:cs typeface="Arial"/>
                <a:sym typeface="Arial"/>
              </a:rPr>
              <a:t> (e.g., computing quarterly or monthly averages) to match financial and macroeconomic reporting periods.</a:t>
            </a:r>
            <a:br>
              <a:rPr lang="en" sz="1400">
                <a:highlight>
                  <a:schemeClr val="dk1"/>
                </a:highlight>
                <a:latin typeface="Arial"/>
                <a:ea typeface="Arial"/>
                <a:cs typeface="Arial"/>
                <a:sym typeface="Arial"/>
              </a:rPr>
            </a:br>
            <a:endParaRPr sz="1400">
              <a:highlight>
                <a:schemeClr val="dk1"/>
              </a:highlight>
              <a:latin typeface="Arial"/>
              <a:ea typeface="Arial"/>
              <a:cs typeface="Arial"/>
              <a:sym typeface="Arial"/>
            </a:endParaRPr>
          </a:p>
          <a:p>
            <a:pPr indent="-304165" lvl="0" marL="457200" rtl="0" algn="l">
              <a:spcBef>
                <a:spcPts val="0"/>
              </a:spcBef>
              <a:spcAft>
                <a:spcPts val="0"/>
              </a:spcAft>
              <a:buClr>
                <a:schemeClr val="lt1"/>
              </a:buClr>
              <a:buSzPct val="100000"/>
              <a:buFont typeface="Arial"/>
              <a:buChar char="●"/>
            </a:pPr>
            <a:r>
              <a:rPr b="1" lang="en" sz="1400">
                <a:highlight>
                  <a:schemeClr val="dk1"/>
                </a:highlight>
                <a:latin typeface="Arial"/>
                <a:ea typeface="Arial"/>
                <a:cs typeface="Arial"/>
                <a:sym typeface="Arial"/>
              </a:rPr>
              <a:t>Macroeconomic variables</a:t>
            </a:r>
            <a:r>
              <a:rPr lang="en" sz="1400">
                <a:highlight>
                  <a:schemeClr val="dk1"/>
                </a:highlight>
                <a:latin typeface="Arial"/>
                <a:ea typeface="Arial"/>
                <a:cs typeface="Arial"/>
                <a:sym typeface="Arial"/>
              </a:rPr>
              <a:t> (like </a:t>
            </a:r>
            <a:r>
              <a:rPr b="1" lang="en" sz="1400">
                <a:highlight>
                  <a:schemeClr val="dk1"/>
                </a:highlight>
                <a:latin typeface="Arial"/>
                <a:ea typeface="Arial"/>
                <a:cs typeface="Arial"/>
                <a:sym typeface="Arial"/>
              </a:rPr>
              <a:t>GDP</a:t>
            </a:r>
            <a:r>
              <a:rPr lang="en" sz="1400">
                <a:highlight>
                  <a:schemeClr val="dk1"/>
                </a:highlight>
                <a:latin typeface="Arial"/>
                <a:ea typeface="Arial"/>
                <a:cs typeface="Arial"/>
                <a:sym typeface="Arial"/>
              </a:rPr>
              <a:t>, </a:t>
            </a:r>
            <a:r>
              <a:rPr b="1" lang="en" sz="1400">
                <a:highlight>
                  <a:schemeClr val="dk1"/>
                </a:highlight>
                <a:latin typeface="Arial"/>
                <a:ea typeface="Arial"/>
                <a:cs typeface="Arial"/>
                <a:sym typeface="Arial"/>
              </a:rPr>
              <a:t>Inflation Rate</a:t>
            </a:r>
            <a:r>
              <a:rPr lang="en" sz="1400">
                <a:highlight>
                  <a:schemeClr val="dk1"/>
                </a:highlight>
                <a:latin typeface="Arial"/>
                <a:ea typeface="Arial"/>
                <a:cs typeface="Arial"/>
                <a:sym typeface="Arial"/>
              </a:rPr>
              <a:t>, and </a:t>
            </a:r>
            <a:r>
              <a:rPr b="1" lang="en" sz="1400">
                <a:highlight>
                  <a:schemeClr val="dk1"/>
                </a:highlight>
                <a:latin typeface="Arial"/>
                <a:ea typeface="Arial"/>
                <a:cs typeface="Arial"/>
                <a:sym typeface="Arial"/>
              </a:rPr>
              <a:t>Interest Rate</a:t>
            </a:r>
            <a:r>
              <a:rPr lang="en" sz="1400">
                <a:highlight>
                  <a:schemeClr val="dk1"/>
                </a:highlight>
                <a:latin typeface="Arial"/>
                <a:ea typeface="Arial"/>
                <a:cs typeface="Arial"/>
                <a:sym typeface="Arial"/>
              </a:rPr>
              <a:t>) were sourced from the </a:t>
            </a:r>
            <a:r>
              <a:rPr b="1" lang="en" sz="1400">
                <a:highlight>
                  <a:schemeClr val="dk1"/>
                </a:highlight>
                <a:latin typeface="Arial"/>
                <a:ea typeface="Arial"/>
                <a:cs typeface="Arial"/>
                <a:sym typeface="Arial"/>
              </a:rPr>
              <a:t>Federal Reserve Economic Data (FRED)</a:t>
            </a:r>
            <a:r>
              <a:rPr lang="en" sz="1400">
                <a:highlight>
                  <a:schemeClr val="dk1"/>
                </a:highlight>
                <a:latin typeface="Arial"/>
                <a:ea typeface="Arial"/>
                <a:cs typeface="Arial"/>
                <a:sym typeface="Arial"/>
              </a:rPr>
              <a:t> and aligned with the quarterly cadence of company earnings.</a:t>
            </a:r>
            <a:br>
              <a:rPr lang="en" sz="1400">
                <a:highlight>
                  <a:schemeClr val="dk1"/>
                </a:highlight>
                <a:latin typeface="Arial"/>
                <a:ea typeface="Arial"/>
                <a:cs typeface="Arial"/>
                <a:sym typeface="Arial"/>
              </a:rPr>
            </a:br>
            <a:endParaRPr sz="1400">
              <a:highlight>
                <a:schemeClr val="dk1"/>
              </a:highlight>
              <a:latin typeface="Arial"/>
              <a:ea typeface="Arial"/>
              <a:cs typeface="Arial"/>
              <a:sym typeface="Arial"/>
            </a:endParaRPr>
          </a:p>
          <a:p>
            <a:pPr indent="-304165" lvl="0" marL="457200" rtl="0" algn="l">
              <a:spcBef>
                <a:spcPts val="0"/>
              </a:spcBef>
              <a:spcAft>
                <a:spcPts val="0"/>
              </a:spcAft>
              <a:buClr>
                <a:schemeClr val="lt1"/>
              </a:buClr>
              <a:buSzPct val="100000"/>
              <a:buFont typeface="Arial"/>
              <a:buChar char="●"/>
            </a:pPr>
            <a:r>
              <a:rPr b="1" lang="en" sz="1400">
                <a:highlight>
                  <a:schemeClr val="dk1"/>
                </a:highlight>
                <a:latin typeface="Arial"/>
                <a:ea typeface="Arial"/>
                <a:cs typeface="Arial"/>
                <a:sym typeface="Arial"/>
              </a:rPr>
              <a:t>Company fundamentals</a:t>
            </a:r>
            <a:r>
              <a:rPr lang="en" sz="1400">
                <a:highlight>
                  <a:schemeClr val="dk1"/>
                </a:highlight>
                <a:latin typeface="Arial"/>
                <a:ea typeface="Arial"/>
                <a:cs typeface="Arial"/>
                <a:sym typeface="Arial"/>
              </a:rPr>
              <a:t> such as </a:t>
            </a:r>
            <a:r>
              <a:rPr b="1" lang="en" sz="1400">
                <a:highlight>
                  <a:schemeClr val="dk1"/>
                </a:highlight>
                <a:latin typeface="Arial"/>
                <a:ea typeface="Arial"/>
                <a:cs typeface="Arial"/>
                <a:sym typeface="Arial"/>
              </a:rPr>
              <a:t>Total Revenue</a:t>
            </a:r>
            <a:r>
              <a:rPr lang="en" sz="1400">
                <a:highlight>
                  <a:schemeClr val="dk1"/>
                </a:highlight>
                <a:latin typeface="Arial"/>
                <a:ea typeface="Arial"/>
                <a:cs typeface="Arial"/>
                <a:sym typeface="Arial"/>
              </a:rPr>
              <a:t>, </a:t>
            </a:r>
            <a:r>
              <a:rPr b="1" lang="en" sz="1400">
                <a:highlight>
                  <a:schemeClr val="dk1"/>
                </a:highlight>
                <a:latin typeface="Arial"/>
                <a:ea typeface="Arial"/>
                <a:cs typeface="Arial"/>
                <a:sym typeface="Arial"/>
              </a:rPr>
              <a:t>Net Income</a:t>
            </a:r>
            <a:r>
              <a:rPr lang="en" sz="1400">
                <a:highlight>
                  <a:schemeClr val="dk1"/>
                </a:highlight>
                <a:latin typeface="Arial"/>
                <a:ea typeface="Arial"/>
                <a:cs typeface="Arial"/>
                <a:sym typeface="Arial"/>
              </a:rPr>
              <a:t>, </a:t>
            </a:r>
            <a:r>
              <a:rPr b="1" lang="en" sz="1400">
                <a:highlight>
                  <a:schemeClr val="dk1"/>
                </a:highlight>
                <a:latin typeface="Arial"/>
                <a:ea typeface="Arial"/>
                <a:cs typeface="Arial"/>
                <a:sym typeface="Arial"/>
              </a:rPr>
              <a:t>Gross Profit</a:t>
            </a:r>
            <a:r>
              <a:rPr lang="en" sz="1400">
                <a:highlight>
                  <a:schemeClr val="dk1"/>
                </a:highlight>
                <a:latin typeface="Arial"/>
                <a:ea typeface="Arial"/>
                <a:cs typeface="Arial"/>
                <a:sym typeface="Arial"/>
              </a:rPr>
              <a:t>, and </a:t>
            </a:r>
            <a:r>
              <a:rPr b="1" lang="en" sz="1400">
                <a:highlight>
                  <a:schemeClr val="dk1"/>
                </a:highlight>
                <a:latin typeface="Arial"/>
                <a:ea typeface="Arial"/>
                <a:cs typeface="Arial"/>
                <a:sym typeface="Arial"/>
              </a:rPr>
              <a:t>Cash Flow from Financing</a:t>
            </a:r>
            <a:r>
              <a:rPr lang="en" sz="1400">
                <a:highlight>
                  <a:schemeClr val="dk1"/>
                </a:highlight>
                <a:latin typeface="Arial"/>
                <a:ea typeface="Arial"/>
                <a:cs typeface="Arial"/>
                <a:sym typeface="Arial"/>
              </a:rPr>
              <a:t> were merged with </a:t>
            </a:r>
            <a:r>
              <a:rPr b="1" lang="en" sz="1400">
                <a:highlight>
                  <a:schemeClr val="dk1"/>
                </a:highlight>
                <a:latin typeface="Arial"/>
                <a:ea typeface="Arial"/>
                <a:cs typeface="Arial"/>
                <a:sym typeface="Arial"/>
              </a:rPr>
              <a:t>daily stock data</a:t>
            </a:r>
            <a:r>
              <a:rPr lang="en" sz="1400">
                <a:highlight>
                  <a:schemeClr val="dk1"/>
                </a:highlight>
                <a:latin typeface="Arial"/>
                <a:ea typeface="Arial"/>
                <a:cs typeface="Arial"/>
                <a:sym typeface="Arial"/>
              </a:rPr>
              <a:t> like </a:t>
            </a:r>
            <a:r>
              <a:rPr b="1" lang="en" sz="1400">
                <a:highlight>
                  <a:schemeClr val="dk1"/>
                </a:highlight>
                <a:latin typeface="Arial"/>
                <a:ea typeface="Arial"/>
                <a:cs typeface="Arial"/>
                <a:sym typeface="Arial"/>
              </a:rPr>
              <a:t>Open</a:t>
            </a:r>
            <a:r>
              <a:rPr lang="en" sz="1400">
                <a:highlight>
                  <a:schemeClr val="dk1"/>
                </a:highlight>
                <a:latin typeface="Arial"/>
                <a:ea typeface="Arial"/>
                <a:cs typeface="Arial"/>
                <a:sym typeface="Arial"/>
              </a:rPr>
              <a:t>, </a:t>
            </a:r>
            <a:r>
              <a:rPr b="1" lang="en" sz="1400">
                <a:highlight>
                  <a:schemeClr val="dk1"/>
                </a:highlight>
                <a:latin typeface="Arial"/>
                <a:ea typeface="Arial"/>
                <a:cs typeface="Arial"/>
                <a:sym typeface="Arial"/>
              </a:rPr>
              <a:t>High</a:t>
            </a:r>
            <a:r>
              <a:rPr lang="en" sz="1400">
                <a:highlight>
                  <a:schemeClr val="dk1"/>
                </a:highlight>
                <a:latin typeface="Arial"/>
                <a:ea typeface="Arial"/>
                <a:cs typeface="Arial"/>
                <a:sym typeface="Arial"/>
              </a:rPr>
              <a:t>, </a:t>
            </a:r>
            <a:r>
              <a:rPr b="1" lang="en" sz="1400">
                <a:highlight>
                  <a:schemeClr val="dk1"/>
                </a:highlight>
                <a:latin typeface="Arial"/>
                <a:ea typeface="Arial"/>
                <a:cs typeface="Arial"/>
                <a:sym typeface="Arial"/>
              </a:rPr>
              <a:t>Low</a:t>
            </a:r>
            <a:r>
              <a:rPr lang="en" sz="1400">
                <a:highlight>
                  <a:schemeClr val="dk1"/>
                </a:highlight>
                <a:latin typeface="Arial"/>
                <a:ea typeface="Arial"/>
                <a:cs typeface="Arial"/>
                <a:sym typeface="Arial"/>
              </a:rPr>
              <a:t>, </a:t>
            </a:r>
            <a:r>
              <a:rPr b="1" lang="en" sz="1400">
                <a:highlight>
                  <a:schemeClr val="dk1"/>
                </a:highlight>
                <a:latin typeface="Arial"/>
                <a:ea typeface="Arial"/>
                <a:cs typeface="Arial"/>
                <a:sym typeface="Arial"/>
              </a:rPr>
              <a:t>Volume</a:t>
            </a:r>
            <a:r>
              <a:rPr lang="en" sz="1400">
                <a:highlight>
                  <a:schemeClr val="dk1"/>
                </a:highlight>
                <a:latin typeface="Arial"/>
                <a:ea typeface="Arial"/>
                <a:cs typeface="Arial"/>
                <a:sym typeface="Arial"/>
              </a:rPr>
              <a:t>, and </a:t>
            </a:r>
            <a:r>
              <a:rPr b="1" lang="en" sz="1400">
                <a:highlight>
                  <a:schemeClr val="dk1"/>
                </a:highlight>
                <a:latin typeface="Arial"/>
                <a:ea typeface="Arial"/>
                <a:cs typeface="Arial"/>
                <a:sym typeface="Arial"/>
              </a:rPr>
              <a:t>Adjusted Close</a:t>
            </a:r>
            <a:r>
              <a:rPr lang="en" sz="1400">
                <a:highlight>
                  <a:schemeClr val="dk1"/>
                </a:highlight>
                <a:latin typeface="Arial"/>
                <a:ea typeface="Arial"/>
                <a:cs typeface="Arial"/>
                <a:sym typeface="Arial"/>
              </a:rPr>
              <a:t>.</a:t>
            </a:r>
            <a:endParaRPr b="1" sz="1400">
              <a:highlight>
                <a:schemeClr val="dk1"/>
              </a:highlight>
              <a:latin typeface="Montserrat"/>
              <a:ea typeface="Montserrat"/>
              <a:cs typeface="Montserrat"/>
              <a:sym typeface="Montserrat"/>
            </a:endParaRPr>
          </a:p>
          <a:p>
            <a:pPr indent="0" lvl="0" marL="0" rtl="0" algn="l">
              <a:lnSpc>
                <a:spcPct val="100000"/>
              </a:lnSpc>
              <a:spcBef>
                <a:spcPts val="1200"/>
              </a:spcBef>
              <a:spcAft>
                <a:spcPts val="0"/>
              </a:spcAft>
              <a:buNone/>
            </a:pPr>
            <a:r>
              <a:rPr b="1" lang="en" sz="1400">
                <a:latin typeface="Montserrat"/>
                <a:ea typeface="Montserrat"/>
                <a:cs typeface="Montserrat"/>
                <a:sym typeface="Montserrat"/>
              </a:rPr>
              <a:t>Feature Scaling:</a:t>
            </a:r>
            <a:endParaRPr b="1" sz="1400">
              <a:latin typeface="Montserrat"/>
              <a:ea typeface="Montserrat"/>
              <a:cs typeface="Montserrat"/>
              <a:sym typeface="Montserrat"/>
            </a:endParaRPr>
          </a:p>
          <a:p>
            <a:pPr indent="0" lvl="0" marL="0" rtl="0" algn="l">
              <a:lnSpc>
                <a:spcPct val="100000"/>
              </a:lnSpc>
              <a:spcBef>
                <a:spcPts val="0"/>
              </a:spcBef>
              <a:spcAft>
                <a:spcPts val="0"/>
              </a:spcAft>
              <a:buClr>
                <a:srgbClr val="000000"/>
              </a:buClr>
              <a:buSzPct val="70714"/>
              <a:buFont typeface="Arial"/>
              <a:buNone/>
            </a:pPr>
            <a:r>
              <a:t/>
            </a:r>
            <a:endParaRPr b="1" sz="1400">
              <a:latin typeface="Montserrat"/>
              <a:ea typeface="Montserrat"/>
              <a:cs typeface="Montserrat"/>
              <a:sym typeface="Montserrat"/>
            </a:endParaRPr>
          </a:p>
          <a:p>
            <a:pPr indent="0" lvl="0" marL="0" rtl="0" algn="l">
              <a:lnSpc>
                <a:spcPct val="100000"/>
              </a:lnSpc>
              <a:spcBef>
                <a:spcPts val="0"/>
              </a:spcBef>
              <a:spcAft>
                <a:spcPts val="0"/>
              </a:spcAft>
              <a:buNone/>
            </a:pPr>
            <a:r>
              <a:rPr lang="en" sz="1400">
                <a:latin typeface="Montserrat"/>
                <a:ea typeface="Montserrat"/>
                <a:cs typeface="Montserrat"/>
                <a:sym typeface="Montserrat"/>
              </a:rPr>
              <a:t>To improve model convergence and performance:</a:t>
            </a:r>
            <a:endParaRPr sz="1400">
              <a:latin typeface="Montserrat"/>
              <a:ea typeface="Montserrat"/>
              <a:cs typeface="Montserrat"/>
              <a:sym typeface="Montserrat"/>
            </a:endParaRPr>
          </a:p>
          <a:p>
            <a:pPr indent="0" lvl="0" marL="0" rtl="0" algn="l">
              <a:lnSpc>
                <a:spcPct val="100000"/>
              </a:lnSpc>
              <a:spcBef>
                <a:spcPts val="0"/>
              </a:spcBef>
              <a:spcAft>
                <a:spcPts val="0"/>
              </a:spcAft>
              <a:buClr>
                <a:srgbClr val="000000"/>
              </a:buClr>
              <a:buSzPct val="70714"/>
              <a:buFont typeface="Arial"/>
              <a:buNone/>
            </a:pPr>
            <a:r>
              <a:t/>
            </a:r>
            <a:endParaRPr sz="1400">
              <a:latin typeface="Montserrat"/>
              <a:ea typeface="Montserrat"/>
              <a:cs typeface="Montserrat"/>
              <a:sym typeface="Montserrat"/>
            </a:endParaRPr>
          </a:p>
          <a:p>
            <a:pPr indent="0" lvl="0" marL="0" rtl="0" algn="l">
              <a:lnSpc>
                <a:spcPct val="100000"/>
              </a:lnSpc>
              <a:spcBef>
                <a:spcPts val="0"/>
              </a:spcBef>
              <a:spcAft>
                <a:spcPts val="0"/>
              </a:spcAft>
              <a:buNone/>
            </a:pPr>
            <a:r>
              <a:rPr b="1" lang="en" sz="1400">
                <a:highlight>
                  <a:schemeClr val="dk1"/>
                </a:highlight>
                <a:latin typeface="Arial"/>
                <a:ea typeface="Arial"/>
                <a:cs typeface="Arial"/>
                <a:sym typeface="Arial"/>
              </a:rPr>
              <a:t>Min-Max Scaling</a:t>
            </a:r>
            <a:r>
              <a:rPr lang="en" sz="1400">
                <a:highlight>
                  <a:schemeClr val="dk1"/>
                </a:highlight>
                <a:latin typeface="Arial"/>
                <a:ea typeface="Arial"/>
                <a:cs typeface="Arial"/>
                <a:sym typeface="Arial"/>
              </a:rPr>
              <a:t> was applied for </a:t>
            </a:r>
            <a:r>
              <a:rPr b="1" lang="en" sz="1400">
                <a:highlight>
                  <a:schemeClr val="dk1"/>
                </a:highlight>
                <a:latin typeface="Arial"/>
                <a:ea typeface="Arial"/>
                <a:cs typeface="Arial"/>
                <a:sym typeface="Arial"/>
              </a:rPr>
              <a:t>time-series models</a:t>
            </a:r>
            <a:r>
              <a:rPr lang="en" sz="1400">
                <a:highlight>
                  <a:schemeClr val="dk1"/>
                </a:highlight>
                <a:latin typeface="Arial"/>
                <a:ea typeface="Arial"/>
                <a:cs typeface="Arial"/>
                <a:sym typeface="Arial"/>
              </a:rPr>
              <a:t> like </a:t>
            </a:r>
            <a:r>
              <a:rPr b="1" lang="en" sz="1400">
                <a:highlight>
                  <a:schemeClr val="dk1"/>
                </a:highlight>
                <a:latin typeface="Arial"/>
                <a:ea typeface="Arial"/>
                <a:cs typeface="Arial"/>
                <a:sym typeface="Arial"/>
              </a:rPr>
              <a:t>LSTM</a:t>
            </a:r>
            <a:r>
              <a:rPr lang="en" sz="1400">
                <a:highlight>
                  <a:schemeClr val="dk1"/>
                </a:highlight>
                <a:latin typeface="Arial"/>
                <a:ea typeface="Arial"/>
                <a:cs typeface="Arial"/>
                <a:sym typeface="Arial"/>
              </a:rPr>
              <a:t>.</a:t>
            </a:r>
            <a:endParaRPr sz="1400">
              <a:highlight>
                <a:schemeClr val="dk1"/>
              </a:highlight>
              <a:latin typeface="Arial"/>
              <a:ea typeface="Arial"/>
              <a:cs typeface="Arial"/>
              <a:sym typeface="Arial"/>
            </a:endParaRPr>
          </a:p>
          <a:p>
            <a:pPr indent="0" lvl="0" marL="0" rtl="0" algn="l">
              <a:lnSpc>
                <a:spcPct val="100000"/>
              </a:lnSpc>
              <a:spcBef>
                <a:spcPts val="0"/>
              </a:spcBef>
              <a:spcAft>
                <a:spcPts val="0"/>
              </a:spcAft>
              <a:buNone/>
            </a:pPr>
            <a:r>
              <a:t/>
            </a:r>
            <a:endParaRPr sz="1400">
              <a:highlight>
                <a:schemeClr val="dk1"/>
              </a:highlight>
              <a:latin typeface="Arial"/>
              <a:ea typeface="Arial"/>
              <a:cs typeface="Arial"/>
              <a:sym typeface="Arial"/>
            </a:endParaRPr>
          </a:p>
          <a:p>
            <a:pPr indent="0" lvl="0" marL="0" rtl="0" algn="l">
              <a:lnSpc>
                <a:spcPct val="100000"/>
              </a:lnSpc>
              <a:spcBef>
                <a:spcPts val="0"/>
              </a:spcBef>
              <a:spcAft>
                <a:spcPts val="0"/>
              </a:spcAft>
              <a:buNone/>
            </a:pPr>
            <a:r>
              <a:rPr b="1" lang="en" sz="1400">
                <a:highlight>
                  <a:schemeClr val="dk1"/>
                </a:highlight>
                <a:latin typeface="Arial"/>
                <a:ea typeface="Arial"/>
                <a:cs typeface="Arial"/>
                <a:sym typeface="Arial"/>
              </a:rPr>
              <a:t>Standardization</a:t>
            </a:r>
            <a:r>
              <a:rPr lang="en" sz="1400">
                <a:highlight>
                  <a:schemeClr val="dk1"/>
                </a:highlight>
                <a:latin typeface="Arial"/>
                <a:ea typeface="Arial"/>
                <a:cs typeface="Arial"/>
                <a:sym typeface="Arial"/>
              </a:rPr>
              <a:t> (Z-score normalization) was used for </a:t>
            </a:r>
            <a:r>
              <a:rPr b="1" lang="en" sz="1400">
                <a:highlight>
                  <a:schemeClr val="dk1"/>
                </a:highlight>
                <a:latin typeface="Arial"/>
                <a:ea typeface="Arial"/>
                <a:cs typeface="Arial"/>
                <a:sym typeface="Arial"/>
              </a:rPr>
              <a:t>tree-based models</a:t>
            </a:r>
            <a:r>
              <a:rPr lang="en" sz="1400">
                <a:highlight>
                  <a:schemeClr val="dk1"/>
                </a:highlight>
                <a:latin typeface="Arial"/>
                <a:ea typeface="Arial"/>
                <a:cs typeface="Arial"/>
                <a:sym typeface="Arial"/>
              </a:rPr>
              <a:t> like </a:t>
            </a:r>
            <a:r>
              <a:rPr b="1" lang="en" sz="1400">
                <a:highlight>
                  <a:schemeClr val="dk1"/>
                </a:highlight>
                <a:latin typeface="Arial"/>
                <a:ea typeface="Arial"/>
                <a:cs typeface="Arial"/>
                <a:sym typeface="Arial"/>
              </a:rPr>
              <a:t>XGBoost</a:t>
            </a:r>
            <a:r>
              <a:rPr lang="en" sz="1400">
                <a:highlight>
                  <a:schemeClr val="dk1"/>
                </a:highlight>
                <a:latin typeface="Arial"/>
                <a:ea typeface="Arial"/>
                <a:cs typeface="Arial"/>
                <a:sym typeface="Arial"/>
              </a:rPr>
              <a:t> and </a:t>
            </a:r>
            <a:r>
              <a:rPr b="1" lang="en" sz="1400">
                <a:highlight>
                  <a:schemeClr val="dk1"/>
                </a:highlight>
                <a:latin typeface="Arial"/>
                <a:ea typeface="Arial"/>
                <a:cs typeface="Arial"/>
                <a:sym typeface="Arial"/>
              </a:rPr>
              <a:t>meta-learners</a:t>
            </a:r>
            <a:r>
              <a:rPr lang="en" sz="1400">
                <a:highlight>
                  <a:schemeClr val="dk1"/>
                </a:highlight>
                <a:latin typeface="Arial"/>
                <a:ea typeface="Arial"/>
                <a:cs typeface="Arial"/>
                <a:sym typeface="Arial"/>
              </a:rPr>
              <a:t> in the </a:t>
            </a:r>
            <a:r>
              <a:rPr b="1" lang="en" sz="1400">
                <a:highlight>
                  <a:schemeClr val="dk1"/>
                </a:highlight>
                <a:latin typeface="Arial"/>
                <a:ea typeface="Arial"/>
                <a:cs typeface="Arial"/>
                <a:sym typeface="Arial"/>
              </a:rPr>
              <a:t>stacked ensemble</a:t>
            </a:r>
            <a:r>
              <a:rPr lang="en" sz="1400">
                <a:highlight>
                  <a:schemeClr val="dk1"/>
                </a:highlight>
                <a:latin typeface="Arial"/>
                <a:ea typeface="Arial"/>
                <a:cs typeface="Arial"/>
                <a:sym typeface="Arial"/>
              </a:rPr>
              <a:t>.</a:t>
            </a:r>
            <a:endParaRPr sz="1400">
              <a:highlight>
                <a:schemeClr val="dk1"/>
              </a:highlight>
              <a:latin typeface="Arial"/>
              <a:ea typeface="Arial"/>
              <a:cs typeface="Arial"/>
              <a:sym typeface="Arial"/>
            </a:endParaRPr>
          </a:p>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2"/>
          <p:cNvSpPr txBox="1"/>
          <p:nvPr>
            <p:ph type="title"/>
          </p:nvPr>
        </p:nvSpPr>
        <p:spPr>
          <a:xfrm>
            <a:off x="217900" y="222425"/>
            <a:ext cx="4860600" cy="4745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b="1" lang="en" sz="1500">
                <a:latin typeface="Arial"/>
                <a:ea typeface="Arial"/>
                <a:cs typeface="Arial"/>
                <a:sym typeface="Arial"/>
              </a:rPr>
              <a:t> Correlation Heatmap Insights</a:t>
            </a:r>
            <a:endParaRPr b="1" sz="1500">
              <a:latin typeface="Arial"/>
              <a:ea typeface="Arial"/>
              <a:cs typeface="Arial"/>
              <a:sym typeface="Arial"/>
            </a:endParaRPr>
          </a:p>
          <a:p>
            <a:pPr indent="0" lvl="0" marL="0" rtl="0" algn="l">
              <a:lnSpc>
                <a:spcPct val="115000"/>
              </a:lnSpc>
              <a:spcBef>
                <a:spcPts val="1200"/>
              </a:spcBef>
              <a:spcAft>
                <a:spcPts val="0"/>
              </a:spcAft>
              <a:buNone/>
            </a:pPr>
            <a:r>
              <a:rPr lang="en" sz="1100">
                <a:latin typeface="Arial"/>
                <a:ea typeface="Arial"/>
                <a:cs typeface="Arial"/>
                <a:sym typeface="Arial"/>
              </a:rPr>
              <a:t>S</a:t>
            </a:r>
            <a:r>
              <a:rPr b="1" lang="en" sz="1100">
                <a:latin typeface="Arial"/>
                <a:ea typeface="Arial"/>
                <a:cs typeface="Arial"/>
                <a:sym typeface="Arial"/>
              </a:rPr>
              <a:t>trongly Correlated with Closing Price (</a:t>
            </a:r>
            <a:r>
              <a:rPr b="1" lang="en" sz="1100">
                <a:latin typeface="Roboto Mono"/>
                <a:ea typeface="Roboto Mono"/>
                <a:cs typeface="Roboto Mono"/>
                <a:sym typeface="Roboto Mono"/>
              </a:rPr>
              <a:t>Close</a:t>
            </a:r>
            <a:r>
              <a:rPr b="1" lang="en" sz="1100">
                <a:latin typeface="Arial"/>
                <a:ea typeface="Arial"/>
                <a:cs typeface="Arial"/>
                <a:sym typeface="Arial"/>
              </a:rPr>
              <a:t>): Adj Close</a:t>
            </a:r>
            <a:r>
              <a:rPr lang="en" sz="1100">
                <a:latin typeface="Arial"/>
                <a:ea typeface="Arial"/>
                <a:cs typeface="Arial"/>
                <a:sym typeface="Arial"/>
              </a:rPr>
              <a:t>: 1.00 ,</a:t>
            </a:r>
            <a:r>
              <a:rPr b="1" lang="en" sz="1100">
                <a:latin typeface="Arial"/>
                <a:ea typeface="Arial"/>
                <a:cs typeface="Arial"/>
                <a:sym typeface="Arial"/>
              </a:rPr>
              <a:t>Open</a:t>
            </a:r>
            <a:r>
              <a:rPr lang="en" sz="1100">
                <a:latin typeface="Arial"/>
                <a:ea typeface="Arial"/>
                <a:cs typeface="Arial"/>
                <a:sym typeface="Arial"/>
              </a:rPr>
              <a:t>, </a:t>
            </a:r>
            <a:r>
              <a:rPr b="1" lang="en" sz="1100">
                <a:latin typeface="Arial"/>
                <a:ea typeface="Arial"/>
                <a:cs typeface="Arial"/>
                <a:sym typeface="Arial"/>
              </a:rPr>
              <a:t>High</a:t>
            </a:r>
            <a:r>
              <a:rPr lang="en" sz="1100">
                <a:latin typeface="Arial"/>
                <a:ea typeface="Arial"/>
                <a:cs typeface="Arial"/>
                <a:sym typeface="Arial"/>
              </a:rPr>
              <a:t>, </a:t>
            </a:r>
            <a:r>
              <a:rPr b="1" lang="en" sz="1100">
                <a:latin typeface="Arial"/>
                <a:ea typeface="Arial"/>
                <a:cs typeface="Arial"/>
                <a:sym typeface="Arial"/>
              </a:rPr>
              <a:t>Low</a:t>
            </a:r>
            <a:r>
              <a:rPr lang="en" sz="1100">
                <a:latin typeface="Arial"/>
                <a:ea typeface="Arial"/>
                <a:cs typeface="Arial"/>
                <a:sym typeface="Arial"/>
              </a:rPr>
              <a:t>: 0.95 – 0.99 ,</a:t>
            </a:r>
            <a:r>
              <a:rPr b="1" lang="en" sz="1100">
                <a:latin typeface="Arial"/>
                <a:ea typeface="Arial"/>
                <a:cs typeface="Arial"/>
                <a:sym typeface="Arial"/>
              </a:rPr>
              <a:t>Net Income (</a:t>
            </a:r>
            <a:r>
              <a:rPr b="1" lang="en" sz="1100">
                <a:latin typeface="Roboto Mono"/>
                <a:ea typeface="Roboto Mono"/>
                <a:cs typeface="Roboto Mono"/>
                <a:sym typeface="Roboto Mono"/>
              </a:rPr>
              <a:t>netIncome_x</a:t>
            </a:r>
            <a:r>
              <a:rPr b="1" lang="en" sz="1100">
                <a:latin typeface="Arial"/>
                <a:ea typeface="Arial"/>
                <a:cs typeface="Arial"/>
                <a:sym typeface="Arial"/>
              </a:rPr>
              <a:t>)</a:t>
            </a:r>
            <a:r>
              <a:rPr lang="en" sz="1100">
                <a:latin typeface="Arial"/>
                <a:ea typeface="Arial"/>
                <a:cs typeface="Arial"/>
                <a:sym typeface="Arial"/>
              </a:rPr>
              <a:t>: 0.93 ,</a:t>
            </a:r>
            <a:r>
              <a:rPr b="1" lang="en" sz="1100">
                <a:latin typeface="Arial"/>
                <a:ea typeface="Arial"/>
                <a:cs typeface="Arial"/>
                <a:sym typeface="Arial"/>
              </a:rPr>
              <a:t>Gross Profit</a:t>
            </a:r>
            <a:r>
              <a:rPr lang="en" sz="1100">
                <a:latin typeface="Arial"/>
                <a:ea typeface="Arial"/>
                <a:cs typeface="Arial"/>
                <a:sym typeface="Arial"/>
              </a:rPr>
              <a:t>: 0.89 ,</a:t>
            </a:r>
            <a:r>
              <a:rPr b="1" lang="en" sz="1100">
                <a:latin typeface="Arial"/>
                <a:ea typeface="Arial"/>
                <a:cs typeface="Arial"/>
                <a:sym typeface="Arial"/>
              </a:rPr>
              <a:t>total</a:t>
            </a:r>
            <a:r>
              <a:rPr b="1" lang="en" sz="1100">
                <a:latin typeface="Arial"/>
                <a:ea typeface="Arial"/>
                <a:cs typeface="Arial"/>
                <a:sym typeface="Arial"/>
              </a:rPr>
              <a:t> Revenue</a:t>
            </a:r>
            <a:r>
              <a:rPr lang="en" sz="1100">
                <a:latin typeface="Arial"/>
                <a:ea typeface="Arial"/>
                <a:cs typeface="Arial"/>
                <a:sym typeface="Arial"/>
              </a:rPr>
              <a:t>: 0.85 ,</a:t>
            </a:r>
            <a:r>
              <a:rPr b="1" lang="en" sz="1100">
                <a:latin typeface="Arial"/>
                <a:ea typeface="Arial"/>
                <a:cs typeface="Arial"/>
                <a:sym typeface="Arial"/>
              </a:rPr>
              <a:t>GDP</a:t>
            </a:r>
            <a:r>
              <a:rPr lang="en" sz="1100">
                <a:latin typeface="Arial"/>
                <a:ea typeface="Arial"/>
                <a:cs typeface="Arial"/>
                <a:sym typeface="Arial"/>
              </a:rPr>
              <a:t>: 0.84 ,</a:t>
            </a:r>
            <a:r>
              <a:rPr b="1" lang="en" sz="1100">
                <a:latin typeface="Arial"/>
                <a:ea typeface="Arial"/>
                <a:cs typeface="Arial"/>
                <a:sym typeface="Arial"/>
              </a:rPr>
              <a:t>Cash Flow from Financing</a:t>
            </a:r>
            <a:r>
              <a:rPr lang="en" sz="1100">
                <a:latin typeface="Arial"/>
                <a:ea typeface="Arial"/>
                <a:cs typeface="Arial"/>
                <a:sym typeface="Arial"/>
              </a:rPr>
              <a:t>: 0.83</a:t>
            </a:r>
            <a:br>
              <a:rPr lang="en" sz="1100">
                <a:latin typeface="Arial"/>
                <a:ea typeface="Arial"/>
                <a:cs typeface="Arial"/>
                <a:sym typeface="Arial"/>
              </a:rPr>
            </a:br>
            <a:endParaRPr sz="1100">
              <a:latin typeface="Arial"/>
              <a:ea typeface="Arial"/>
              <a:cs typeface="Arial"/>
              <a:sym typeface="Arial"/>
            </a:endParaRPr>
          </a:p>
          <a:p>
            <a:pPr indent="0" lvl="0" marL="0" rtl="0" algn="l">
              <a:lnSpc>
                <a:spcPct val="115000"/>
              </a:lnSpc>
              <a:spcBef>
                <a:spcPts val="1200"/>
              </a:spcBef>
              <a:spcAft>
                <a:spcPts val="0"/>
              </a:spcAft>
              <a:buNone/>
            </a:pPr>
            <a:r>
              <a:rPr b="1" lang="en" sz="1100">
                <a:latin typeface="Arial"/>
                <a:ea typeface="Arial"/>
                <a:cs typeface="Arial"/>
                <a:sym typeface="Arial"/>
              </a:rPr>
              <a:t>Moderately Correlated: Volume</a:t>
            </a:r>
            <a:r>
              <a:rPr lang="en" sz="1100">
                <a:latin typeface="Arial"/>
                <a:ea typeface="Arial"/>
                <a:cs typeface="Arial"/>
                <a:sym typeface="Arial"/>
              </a:rPr>
              <a:t>: 0.40 ,</a:t>
            </a:r>
            <a:r>
              <a:rPr b="1" lang="en" sz="1100">
                <a:latin typeface="Arial"/>
                <a:ea typeface="Arial"/>
                <a:cs typeface="Arial"/>
                <a:sym typeface="Arial"/>
              </a:rPr>
              <a:t>Interest Rate</a:t>
            </a:r>
            <a:r>
              <a:rPr lang="en" sz="1100">
                <a:latin typeface="Arial"/>
                <a:ea typeface="Arial"/>
                <a:cs typeface="Arial"/>
                <a:sym typeface="Arial"/>
              </a:rPr>
              <a:t>: ~0.52 ,</a:t>
            </a:r>
            <a:r>
              <a:rPr b="1" lang="en" sz="1100">
                <a:latin typeface="Arial"/>
                <a:ea typeface="Arial"/>
                <a:cs typeface="Arial"/>
                <a:sym typeface="Arial"/>
              </a:rPr>
              <a:t>Total Assets</a:t>
            </a:r>
            <a:r>
              <a:rPr lang="en" sz="1100">
                <a:latin typeface="Arial"/>
                <a:ea typeface="Arial"/>
                <a:cs typeface="Arial"/>
                <a:sym typeface="Arial"/>
              </a:rPr>
              <a:t>: ~0.58 ,</a:t>
            </a:r>
            <a:r>
              <a:rPr b="1" lang="en" sz="1100">
                <a:latin typeface="Arial"/>
                <a:ea typeface="Arial"/>
                <a:cs typeface="Arial"/>
                <a:sym typeface="Arial"/>
              </a:rPr>
              <a:t>Unemployment</a:t>
            </a:r>
            <a:r>
              <a:rPr lang="en" sz="1100">
                <a:latin typeface="Arial"/>
                <a:ea typeface="Arial"/>
                <a:cs typeface="Arial"/>
                <a:sym typeface="Arial"/>
              </a:rPr>
              <a:t> &amp; </a:t>
            </a:r>
            <a:r>
              <a:rPr b="1" lang="en" sz="1100">
                <a:latin typeface="Arial"/>
                <a:ea typeface="Arial"/>
                <a:cs typeface="Arial"/>
                <a:sym typeface="Arial"/>
              </a:rPr>
              <a:t>Inflation</a:t>
            </a:r>
            <a:r>
              <a:rPr lang="en" sz="1100">
                <a:latin typeface="Arial"/>
                <a:ea typeface="Arial"/>
                <a:cs typeface="Arial"/>
                <a:sym typeface="Arial"/>
              </a:rPr>
              <a:t>: ~0.4 – 0.6</a:t>
            </a:r>
            <a:br>
              <a:rPr lang="en" sz="1100">
                <a:latin typeface="Arial"/>
                <a:ea typeface="Arial"/>
                <a:cs typeface="Arial"/>
                <a:sym typeface="Arial"/>
              </a:rPr>
            </a:br>
            <a:endParaRPr sz="1100">
              <a:latin typeface="Arial"/>
              <a:ea typeface="Arial"/>
              <a:cs typeface="Arial"/>
              <a:sym typeface="Arial"/>
            </a:endParaRPr>
          </a:p>
          <a:p>
            <a:pPr indent="0" lvl="0" marL="0" rtl="0" algn="l">
              <a:lnSpc>
                <a:spcPct val="115000"/>
              </a:lnSpc>
              <a:spcBef>
                <a:spcPts val="1200"/>
              </a:spcBef>
              <a:spcAft>
                <a:spcPts val="0"/>
              </a:spcAft>
              <a:buNone/>
            </a:pPr>
            <a:r>
              <a:rPr b="1" lang="en" sz="1100">
                <a:latin typeface="Arial"/>
                <a:ea typeface="Arial"/>
                <a:cs typeface="Arial"/>
                <a:sym typeface="Arial"/>
              </a:rPr>
              <a:t>Weak or Low Correlation:Cash Flow from Investment</a:t>
            </a:r>
            <a:r>
              <a:rPr lang="en" sz="1100">
                <a:latin typeface="Arial"/>
                <a:ea typeface="Arial"/>
                <a:cs typeface="Arial"/>
                <a:sym typeface="Arial"/>
              </a:rPr>
              <a:t>: ~0.19 ,</a:t>
            </a:r>
            <a:r>
              <a:rPr b="1" lang="en" sz="1100">
                <a:latin typeface="Arial"/>
                <a:ea typeface="Arial"/>
                <a:cs typeface="Arial"/>
                <a:sym typeface="Arial"/>
              </a:rPr>
              <a:t>Capital Expenditures</a:t>
            </a:r>
            <a:r>
              <a:rPr lang="en" sz="1100">
                <a:latin typeface="Arial"/>
                <a:ea typeface="Arial"/>
                <a:cs typeface="Arial"/>
                <a:sym typeface="Arial"/>
              </a:rPr>
              <a:t>: ~0.13 ,</a:t>
            </a:r>
            <a:r>
              <a:rPr b="1" lang="en" sz="1100">
                <a:latin typeface="Arial"/>
                <a:ea typeface="Arial"/>
                <a:cs typeface="Arial"/>
                <a:sym typeface="Arial"/>
              </a:rPr>
              <a:t>Interest Expense</a:t>
            </a:r>
            <a:r>
              <a:rPr lang="en" sz="1100">
                <a:latin typeface="Arial"/>
                <a:ea typeface="Arial"/>
                <a:cs typeface="Arial"/>
                <a:sym typeface="Arial"/>
              </a:rPr>
              <a:t>: ~0.15 ,</a:t>
            </a:r>
            <a:r>
              <a:rPr b="1" lang="en" sz="1100">
                <a:latin typeface="Arial"/>
                <a:ea typeface="Arial"/>
                <a:cs typeface="Arial"/>
                <a:sym typeface="Arial"/>
              </a:rPr>
              <a:t>Investment Income (Net)</a:t>
            </a:r>
            <a:r>
              <a:rPr lang="en" sz="1100">
                <a:latin typeface="Arial"/>
                <a:ea typeface="Arial"/>
                <a:cs typeface="Arial"/>
                <a:sym typeface="Arial"/>
              </a:rPr>
              <a:t>: ~0.0</a:t>
            </a:r>
            <a:r>
              <a:rPr lang="en" sz="1100">
                <a:latin typeface="Arial"/>
                <a:ea typeface="Arial"/>
                <a:cs typeface="Arial"/>
                <a:sym typeface="Arial"/>
              </a:rPr>
              <a:t>9</a:t>
            </a:r>
            <a:br>
              <a:rPr lang="en" sz="1100">
                <a:latin typeface="Arial"/>
                <a:ea typeface="Arial"/>
                <a:cs typeface="Arial"/>
                <a:sym typeface="Arial"/>
              </a:rPr>
            </a:br>
            <a:endParaRPr b="1" sz="1100">
              <a:latin typeface="Arial"/>
              <a:ea typeface="Arial"/>
              <a:cs typeface="Arial"/>
              <a:sym typeface="Arial"/>
            </a:endParaRPr>
          </a:p>
          <a:p>
            <a:pPr indent="0" lvl="0" marL="0" rtl="0" algn="l">
              <a:lnSpc>
                <a:spcPct val="115000"/>
              </a:lnSpc>
              <a:spcBef>
                <a:spcPts val="1200"/>
              </a:spcBef>
              <a:spcAft>
                <a:spcPts val="0"/>
              </a:spcAft>
              <a:buNone/>
            </a:pPr>
            <a:r>
              <a:rPr lang="en" sz="1100">
                <a:latin typeface="Arial"/>
                <a:ea typeface="Arial"/>
                <a:cs typeface="Arial"/>
                <a:sym typeface="Arial"/>
              </a:rPr>
              <a:t>Based on correlation strength and domain relevance, the following features were selected for model training:</a:t>
            </a:r>
            <a:endParaRPr sz="1100">
              <a:latin typeface="Arial"/>
              <a:ea typeface="Arial"/>
              <a:cs typeface="Arial"/>
              <a:sym typeface="Arial"/>
            </a:endParaRPr>
          </a:p>
          <a:p>
            <a:pPr indent="0" lvl="0" marL="0" rtl="0" algn="l">
              <a:lnSpc>
                <a:spcPct val="115000"/>
              </a:lnSpc>
              <a:spcBef>
                <a:spcPts val="1200"/>
              </a:spcBef>
              <a:spcAft>
                <a:spcPts val="0"/>
              </a:spcAft>
              <a:buNone/>
            </a:pPr>
            <a:r>
              <a:rPr b="1" lang="en" sz="1100">
                <a:latin typeface="Arial"/>
                <a:ea typeface="Arial"/>
                <a:cs typeface="Arial"/>
                <a:sym typeface="Arial"/>
              </a:rPr>
              <a:t>Open, High, Low, Volume, Adjusted Close, Total Revenue, Net Income, Gross Profit, GDP, Cash Flow from Financing .</a:t>
            </a:r>
            <a:r>
              <a:rPr lang="en" sz="1100">
                <a:latin typeface="Arial"/>
                <a:ea typeface="Arial"/>
                <a:cs typeface="Arial"/>
                <a:sym typeface="Arial"/>
              </a:rPr>
              <a:t>These variables exhibit strong or moderate correlation with stock price movement and provide a balanced mix of </a:t>
            </a:r>
            <a:r>
              <a:rPr b="1" lang="en" sz="1100">
                <a:latin typeface="Arial"/>
                <a:ea typeface="Arial"/>
                <a:cs typeface="Arial"/>
                <a:sym typeface="Arial"/>
              </a:rPr>
              <a:t>technical</a:t>
            </a:r>
            <a:r>
              <a:rPr lang="en" sz="1100">
                <a:latin typeface="Arial"/>
                <a:ea typeface="Arial"/>
                <a:cs typeface="Arial"/>
                <a:sym typeface="Arial"/>
              </a:rPr>
              <a:t>, </a:t>
            </a:r>
            <a:r>
              <a:rPr b="1" lang="en" sz="1100">
                <a:latin typeface="Arial"/>
                <a:ea typeface="Arial"/>
                <a:cs typeface="Arial"/>
                <a:sym typeface="Arial"/>
              </a:rPr>
              <a:t>fundamental</a:t>
            </a:r>
            <a:r>
              <a:rPr lang="en" sz="1100">
                <a:latin typeface="Arial"/>
                <a:ea typeface="Arial"/>
                <a:cs typeface="Arial"/>
                <a:sym typeface="Arial"/>
              </a:rPr>
              <a:t>, and </a:t>
            </a:r>
            <a:r>
              <a:rPr b="1" lang="en" sz="1100">
                <a:latin typeface="Arial"/>
                <a:ea typeface="Arial"/>
                <a:cs typeface="Arial"/>
                <a:sym typeface="Arial"/>
              </a:rPr>
              <a:t>macroeconomic signals</a:t>
            </a:r>
            <a:r>
              <a:rPr lang="en" sz="1100">
                <a:latin typeface="Arial"/>
                <a:ea typeface="Arial"/>
                <a:cs typeface="Arial"/>
                <a:sym typeface="Arial"/>
              </a:rPr>
              <a:t>.</a:t>
            </a:r>
            <a:endParaRPr sz="1100">
              <a:latin typeface="Arial"/>
              <a:ea typeface="Arial"/>
              <a:cs typeface="Arial"/>
              <a:sym typeface="Arial"/>
            </a:endParaRPr>
          </a:p>
          <a:p>
            <a:pPr indent="0" lvl="0" marL="0" rtl="0" algn="l">
              <a:lnSpc>
                <a:spcPct val="100000"/>
              </a:lnSpc>
              <a:spcBef>
                <a:spcPts val="200"/>
              </a:spcBef>
              <a:spcAft>
                <a:spcPts val="0"/>
              </a:spcAft>
              <a:buSzPts val="990"/>
              <a:buNone/>
            </a:pPr>
            <a:r>
              <a:t/>
            </a:r>
            <a:endParaRPr sz="1220"/>
          </a:p>
        </p:txBody>
      </p:sp>
      <p:pic>
        <p:nvPicPr>
          <p:cNvPr id="220" name="Google Shape;220;p32"/>
          <p:cNvPicPr preferRelativeResize="0"/>
          <p:nvPr/>
        </p:nvPicPr>
        <p:blipFill rotWithShape="1">
          <a:blip r:embed="rId3">
            <a:alphaModFix/>
          </a:blip>
          <a:srcRect b="0" l="0" r="0" t="0"/>
          <a:stretch/>
        </p:blipFill>
        <p:spPr>
          <a:xfrm>
            <a:off x="5152775" y="665975"/>
            <a:ext cx="3485201" cy="32670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3"/>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
              <a:t>LSTM</a:t>
            </a:r>
            <a:endParaRPr/>
          </a:p>
        </p:txBody>
      </p:sp>
      <p:sp>
        <p:nvSpPr>
          <p:cNvPr id="226" name="Google Shape;226;p33"/>
          <p:cNvSpPr txBox="1"/>
          <p:nvPr>
            <p:ph idx="1" type="body"/>
          </p:nvPr>
        </p:nvSpPr>
        <p:spPr>
          <a:xfrm>
            <a:off x="793650" y="1141050"/>
            <a:ext cx="7974000" cy="34818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300"/>
              <a:buNone/>
            </a:pPr>
            <a:r>
              <a:rPr lang="en"/>
              <a:t>The LSTM model was designed to capture temporal dependencies in stock price time series data.</a:t>
            </a:r>
            <a:endParaRPr/>
          </a:p>
          <a:p>
            <a:pPr indent="0" lvl="0" marL="0" rtl="0" algn="l">
              <a:lnSpc>
                <a:spcPct val="115000"/>
              </a:lnSpc>
              <a:spcBef>
                <a:spcPts val="1200"/>
              </a:spcBef>
              <a:spcAft>
                <a:spcPts val="0"/>
              </a:spcAft>
              <a:buSzPts val="1300"/>
              <a:buNone/>
            </a:pPr>
            <a:r>
              <a:rPr lang="en"/>
              <a:t>Incorporated multiple layers and units, using appropriate activation functions to achieve a balance between complexity and performance.</a:t>
            </a:r>
            <a:endParaRPr/>
          </a:p>
          <a:p>
            <a:pPr indent="0" lvl="0" marL="0" rtl="0" algn="l">
              <a:lnSpc>
                <a:spcPct val="115000"/>
              </a:lnSpc>
              <a:spcBef>
                <a:spcPts val="1200"/>
              </a:spcBef>
              <a:spcAft>
                <a:spcPts val="0"/>
              </a:spcAft>
              <a:buSzPts val="1300"/>
              <a:buNone/>
            </a:pPr>
            <a:r>
              <a:rPr lang="en"/>
              <a:t>High-level parameters such as:</a:t>
            </a:r>
            <a:endParaRPr/>
          </a:p>
          <a:p>
            <a:pPr indent="0" lvl="0" marL="0" rtl="0" algn="l">
              <a:lnSpc>
                <a:spcPct val="115000"/>
              </a:lnSpc>
              <a:spcBef>
                <a:spcPts val="1200"/>
              </a:spcBef>
              <a:spcAft>
                <a:spcPts val="0"/>
              </a:spcAft>
              <a:buSzPts val="1300"/>
              <a:buNone/>
            </a:pPr>
            <a:r>
              <a:rPr lang="en"/>
              <a:t>●</a:t>
            </a:r>
            <a:r>
              <a:rPr b="1" lang="en"/>
              <a:t> Learning Rate: </a:t>
            </a:r>
            <a:r>
              <a:rPr lang="en"/>
              <a:t>Controlled the step size during optimization.</a:t>
            </a:r>
            <a:endParaRPr/>
          </a:p>
          <a:p>
            <a:pPr indent="0" lvl="0" marL="0" rtl="0" algn="l">
              <a:lnSpc>
                <a:spcPct val="115000"/>
              </a:lnSpc>
              <a:spcBef>
                <a:spcPts val="1200"/>
              </a:spcBef>
              <a:spcAft>
                <a:spcPts val="0"/>
              </a:spcAft>
              <a:buSzPts val="1300"/>
              <a:buNone/>
            </a:pPr>
            <a:r>
              <a:rPr lang="en"/>
              <a:t>●</a:t>
            </a:r>
            <a:r>
              <a:rPr b="1" lang="en"/>
              <a:t> Batch Size: </a:t>
            </a:r>
            <a:r>
              <a:rPr lang="en"/>
              <a:t>Defined the number of samples used per gradient update.</a:t>
            </a:r>
            <a:endParaRPr/>
          </a:p>
          <a:p>
            <a:pPr indent="0" lvl="0" marL="0" rtl="0" algn="l">
              <a:lnSpc>
                <a:spcPct val="115000"/>
              </a:lnSpc>
              <a:spcBef>
                <a:spcPts val="1200"/>
              </a:spcBef>
              <a:spcAft>
                <a:spcPts val="0"/>
              </a:spcAft>
              <a:buSzPts val="1300"/>
              <a:buNone/>
            </a:pPr>
            <a:r>
              <a:rPr lang="en"/>
              <a:t>Cross-validation techniques were employed to:</a:t>
            </a:r>
            <a:endParaRPr/>
          </a:p>
          <a:p>
            <a:pPr indent="0" lvl="0" marL="0" rtl="0" algn="l">
              <a:lnSpc>
                <a:spcPct val="115000"/>
              </a:lnSpc>
              <a:spcBef>
                <a:spcPts val="1200"/>
              </a:spcBef>
              <a:spcAft>
                <a:spcPts val="0"/>
              </a:spcAft>
              <a:buSzPts val="1300"/>
              <a:buNone/>
            </a:pPr>
            <a:r>
              <a:rPr lang="en"/>
              <a:t>● Fine-tune these parameters.</a:t>
            </a:r>
            <a:endParaRPr/>
          </a:p>
          <a:p>
            <a:pPr indent="0" lvl="0" marL="0" rtl="0" algn="l">
              <a:lnSpc>
                <a:spcPct val="115000"/>
              </a:lnSpc>
              <a:spcBef>
                <a:spcPts val="1200"/>
              </a:spcBef>
              <a:spcAft>
                <a:spcPts val="0"/>
              </a:spcAft>
              <a:buSzPts val="1300"/>
              <a:buNone/>
            </a:pPr>
            <a:r>
              <a:rPr lang="en"/>
              <a:t>● Improve model generalization and predictive accuracy.</a:t>
            </a:r>
            <a:endParaRPr/>
          </a:p>
          <a:p>
            <a:pPr indent="0" lvl="0" marL="0" rtl="0" algn="l">
              <a:lnSpc>
                <a:spcPct val="115000"/>
              </a:lnSpc>
              <a:spcBef>
                <a:spcPts val="1200"/>
              </a:spcBef>
              <a:spcAft>
                <a:spcPts val="1200"/>
              </a:spcAft>
              <a:buSzPts val="1300"/>
              <a:buNone/>
            </a:pPr>
            <a:r>
              <a:rPr lang="en"/>
              <a:t>This approach ensured the LSTM model effectively learned long-term dependencies and patterns in stock price data.</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4"/>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
              <a:t>Stacked Model</a:t>
            </a:r>
            <a:endParaRPr/>
          </a:p>
        </p:txBody>
      </p:sp>
      <p:sp>
        <p:nvSpPr>
          <p:cNvPr id="232" name="Google Shape;232;p34"/>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0"/>
              </a:spcAft>
              <a:buSzPct val="117647"/>
              <a:buNone/>
            </a:pPr>
            <a:r>
              <a:rPr lang="en"/>
              <a:t>Combined LSTM and XGBoost as base models:</a:t>
            </a:r>
            <a:endParaRPr/>
          </a:p>
          <a:p>
            <a:pPr indent="0" lvl="0" marL="0" rtl="0" algn="l">
              <a:lnSpc>
                <a:spcPct val="115000"/>
              </a:lnSpc>
              <a:spcBef>
                <a:spcPts val="1200"/>
              </a:spcBef>
              <a:spcAft>
                <a:spcPts val="0"/>
              </a:spcAft>
              <a:buSzPct val="117647"/>
              <a:buNone/>
            </a:pPr>
            <a:r>
              <a:rPr lang="en"/>
              <a:t>● </a:t>
            </a:r>
            <a:r>
              <a:rPr b="1" lang="en"/>
              <a:t>LSTM</a:t>
            </a:r>
            <a:r>
              <a:rPr lang="en"/>
              <a:t>: Captured temporal dependencies in stock price data.</a:t>
            </a:r>
            <a:endParaRPr/>
          </a:p>
          <a:p>
            <a:pPr indent="0" lvl="0" marL="0" rtl="0" algn="l">
              <a:lnSpc>
                <a:spcPct val="115000"/>
              </a:lnSpc>
              <a:spcBef>
                <a:spcPts val="1200"/>
              </a:spcBef>
              <a:spcAft>
                <a:spcPts val="0"/>
              </a:spcAft>
              <a:buSzPct val="117647"/>
              <a:buNone/>
            </a:pPr>
            <a:r>
              <a:rPr lang="en"/>
              <a:t>● </a:t>
            </a:r>
            <a:r>
              <a:rPr b="1" lang="en"/>
              <a:t>XGBoost</a:t>
            </a:r>
            <a:r>
              <a:rPr lang="en"/>
              <a:t>: Modeled feature-driven patterns effectively.</a:t>
            </a:r>
            <a:endParaRPr/>
          </a:p>
          <a:p>
            <a:pPr indent="0" lvl="0" marL="0" rtl="0" algn="l">
              <a:lnSpc>
                <a:spcPct val="115000"/>
              </a:lnSpc>
              <a:spcBef>
                <a:spcPts val="1200"/>
              </a:spcBef>
              <a:spcAft>
                <a:spcPts val="0"/>
              </a:spcAft>
              <a:buSzPct val="117647"/>
              <a:buNone/>
            </a:pPr>
            <a:r>
              <a:rPr lang="en"/>
              <a:t>Implemented a multi-level stacking ensemble technique to improve prediction accuracy:</a:t>
            </a:r>
            <a:endParaRPr/>
          </a:p>
          <a:p>
            <a:pPr indent="0" lvl="0" marL="0" rtl="0" algn="l">
              <a:lnSpc>
                <a:spcPct val="115000"/>
              </a:lnSpc>
              <a:spcBef>
                <a:spcPts val="1200"/>
              </a:spcBef>
              <a:spcAft>
                <a:spcPts val="0"/>
              </a:spcAft>
              <a:buSzPct val="117647"/>
              <a:buNone/>
            </a:pPr>
            <a:r>
              <a:rPr lang="en"/>
              <a:t>● Outputs from LSTM and XGBoost served as inputs for a meta-learner.</a:t>
            </a:r>
            <a:endParaRPr/>
          </a:p>
          <a:p>
            <a:pPr indent="0" lvl="0" marL="0" rtl="0" algn="l">
              <a:lnSpc>
                <a:spcPct val="115000"/>
              </a:lnSpc>
              <a:spcBef>
                <a:spcPts val="1200"/>
              </a:spcBef>
              <a:spcAft>
                <a:spcPts val="0"/>
              </a:spcAft>
              <a:buSzPct val="117647"/>
              <a:buNone/>
            </a:pPr>
            <a:r>
              <a:rPr b="1" lang="en"/>
              <a:t>The meta-learner:</a:t>
            </a:r>
            <a:endParaRPr b="1"/>
          </a:p>
          <a:p>
            <a:pPr indent="0" lvl="0" marL="0" rtl="0" algn="l">
              <a:lnSpc>
                <a:spcPct val="115000"/>
              </a:lnSpc>
              <a:spcBef>
                <a:spcPts val="1200"/>
              </a:spcBef>
              <a:spcAft>
                <a:spcPts val="0"/>
              </a:spcAft>
              <a:buSzPct val="117647"/>
              <a:buNone/>
            </a:pPr>
            <a:r>
              <a:rPr lang="en"/>
              <a:t>● Functioned as a straightforward regression model.</a:t>
            </a:r>
            <a:endParaRPr/>
          </a:p>
          <a:p>
            <a:pPr indent="0" lvl="0" marL="0" rtl="0" algn="l">
              <a:lnSpc>
                <a:spcPct val="115000"/>
              </a:lnSpc>
              <a:spcBef>
                <a:spcPts val="1200"/>
              </a:spcBef>
              <a:spcAft>
                <a:spcPts val="0"/>
              </a:spcAft>
              <a:buSzPct val="117647"/>
              <a:buNone/>
            </a:pPr>
            <a:r>
              <a:rPr lang="en"/>
              <a:t>● Integrated strengths of both base models to enhance final predictions.</a:t>
            </a:r>
            <a:endParaRPr/>
          </a:p>
          <a:p>
            <a:pPr indent="0" lvl="0" marL="0" rtl="0" algn="l">
              <a:lnSpc>
                <a:spcPct val="115000"/>
              </a:lnSpc>
              <a:spcBef>
                <a:spcPts val="1200"/>
              </a:spcBef>
              <a:spcAft>
                <a:spcPts val="1200"/>
              </a:spcAft>
              <a:buSzPct val="117647"/>
              <a:buNone/>
            </a:pPr>
            <a:r>
              <a:rPr lang="en"/>
              <a:t>This approach boosted the overall efficacy and resilience of the predictive framework.</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5"/>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
              <a:t>Anomaly Detection for Data Cleaning</a:t>
            </a:r>
            <a:endParaRPr/>
          </a:p>
        </p:txBody>
      </p:sp>
      <p:sp>
        <p:nvSpPr>
          <p:cNvPr id="238" name="Google Shape;238;p35"/>
          <p:cNvSpPr txBox="1"/>
          <p:nvPr>
            <p:ph idx="1" type="body"/>
          </p:nvPr>
        </p:nvSpPr>
        <p:spPr>
          <a:xfrm>
            <a:off x="957850" y="1260400"/>
            <a:ext cx="7553100" cy="3586500"/>
          </a:xfrm>
          <a:prstGeom prst="rect">
            <a:avLst/>
          </a:prstGeom>
          <a:noFill/>
          <a:ln>
            <a:noFill/>
          </a:ln>
        </p:spPr>
        <p:txBody>
          <a:bodyPr anchorCtr="0" anchor="t" bIns="91425" lIns="91425" spcFirstLastPara="1" rIns="91425" wrap="square" tIns="91425">
            <a:normAutofit/>
          </a:bodyPr>
          <a:lstStyle/>
          <a:p>
            <a:pPr indent="0" lvl="0" marL="0" rtl="0" algn="l">
              <a:spcBef>
                <a:spcPts val="1200"/>
              </a:spcBef>
              <a:spcAft>
                <a:spcPts val="0"/>
              </a:spcAft>
              <a:buNone/>
            </a:pPr>
            <a:r>
              <a:rPr lang="en" sz="1200"/>
              <a:t>We used different anomaly detection methods to improve data quality and reduce noise.</a:t>
            </a:r>
            <a:endParaRPr sz="1200"/>
          </a:p>
          <a:p>
            <a:pPr indent="0" lvl="0" marL="0" rtl="0" algn="l">
              <a:spcBef>
                <a:spcPts val="1200"/>
              </a:spcBef>
              <a:spcAft>
                <a:spcPts val="0"/>
              </a:spcAft>
              <a:buNone/>
            </a:pPr>
            <a:r>
              <a:rPr lang="en" sz="1200"/>
              <a:t>● Isolation Forest: Detected and removed unusual price movements that could distort predictions.</a:t>
            </a:r>
            <a:endParaRPr sz="1200"/>
          </a:p>
          <a:p>
            <a:pPr indent="0" lvl="0" marL="0" rtl="0" algn="l">
              <a:spcBef>
                <a:spcPts val="1200"/>
              </a:spcBef>
              <a:spcAft>
                <a:spcPts val="0"/>
              </a:spcAft>
              <a:buNone/>
            </a:pPr>
            <a:r>
              <a:rPr lang="en" sz="1200"/>
              <a:t>● Autoencoder-Based Anomaly Detection: Utilized Autoencoder networks to detect complex patterns of irregularities in time-series data.</a:t>
            </a:r>
            <a:endParaRPr sz="1200"/>
          </a:p>
          <a:p>
            <a:pPr indent="0" lvl="0" marL="0" rtl="0" algn="l">
              <a:spcBef>
                <a:spcPts val="1200"/>
              </a:spcBef>
              <a:spcAft>
                <a:spcPts val="0"/>
              </a:spcAft>
              <a:buNone/>
            </a:pPr>
            <a:r>
              <a:t/>
            </a:r>
            <a:endParaRPr sz="1200"/>
          </a:p>
          <a:p>
            <a:pPr indent="0" lvl="0" marL="0" rtl="0" algn="l">
              <a:spcBef>
                <a:spcPts val="1200"/>
              </a:spcBef>
              <a:spcAft>
                <a:spcPts val="1200"/>
              </a:spcAft>
              <a:buNone/>
            </a:pPr>
            <a:r>
              <a:rPr lang="en" sz="1200"/>
              <a:t>Data cleaning significantly improved model generalization, </a:t>
            </a:r>
            <a:r>
              <a:rPr lang="en" sz="1200"/>
              <a:t>leading</a:t>
            </a:r>
            <a:r>
              <a:rPr lang="en" sz="1200"/>
              <a:t> to a more robust </a:t>
            </a:r>
            <a:r>
              <a:rPr lang="en" sz="1200"/>
              <a:t>Predictive</a:t>
            </a:r>
            <a:r>
              <a:rPr lang="en" sz="1200"/>
              <a:t> model.</a:t>
            </a:r>
            <a:endParaRPr sz="1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6"/>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800"/>
              </a:spcBef>
              <a:spcAft>
                <a:spcPts val="400"/>
              </a:spcAft>
              <a:buSzPts val="2400"/>
              <a:buNone/>
            </a:pPr>
            <a:r>
              <a:rPr lang="en" sz="1900">
                <a:highlight>
                  <a:schemeClr val="dk1"/>
                </a:highlight>
                <a:latin typeface="Arial"/>
                <a:ea typeface="Arial"/>
                <a:cs typeface="Arial"/>
                <a:sym typeface="Arial"/>
              </a:rPr>
              <a:t>Proposed Hybrid Model for Enhanced Prediction Accuracy</a:t>
            </a:r>
            <a:endParaRPr sz="2700">
              <a:highlight>
                <a:schemeClr val="dk1"/>
              </a:highlight>
            </a:endParaRPr>
          </a:p>
        </p:txBody>
      </p:sp>
      <p:sp>
        <p:nvSpPr>
          <p:cNvPr id="244" name="Google Shape;244;p36"/>
          <p:cNvSpPr txBox="1"/>
          <p:nvPr>
            <p:ph idx="1" type="body"/>
          </p:nvPr>
        </p:nvSpPr>
        <p:spPr>
          <a:xfrm>
            <a:off x="1297500" y="1056500"/>
            <a:ext cx="7846500" cy="3846000"/>
          </a:xfrm>
          <a:prstGeom prst="rect">
            <a:avLst/>
          </a:prstGeom>
          <a:noFill/>
          <a:ln>
            <a:noFill/>
          </a:ln>
        </p:spPr>
        <p:txBody>
          <a:bodyPr anchorCtr="0" anchor="t" bIns="91425" lIns="91425" spcFirstLastPara="1" rIns="91425" wrap="square" tIns="91425">
            <a:normAutofit lnSpcReduction="20000"/>
          </a:bodyPr>
          <a:lstStyle/>
          <a:p>
            <a:pPr indent="-298450" lvl="0" marL="457200" rtl="0" algn="l">
              <a:lnSpc>
                <a:spcPct val="115000"/>
              </a:lnSpc>
              <a:spcBef>
                <a:spcPts val="1200"/>
              </a:spcBef>
              <a:spcAft>
                <a:spcPts val="0"/>
              </a:spcAft>
              <a:buClr>
                <a:schemeClr val="lt1"/>
              </a:buClr>
              <a:buSzPts val="1100"/>
              <a:buFont typeface="Arial"/>
              <a:buAutoNum type="arabicPeriod"/>
            </a:pPr>
            <a:r>
              <a:rPr b="1" lang="en" sz="1100">
                <a:highlight>
                  <a:schemeClr val="dk1"/>
                </a:highlight>
                <a:latin typeface="Arial"/>
                <a:ea typeface="Arial"/>
                <a:cs typeface="Arial"/>
                <a:sym typeface="Arial"/>
              </a:rPr>
              <a:t>Anomaly Detection for Data Cleaning</a:t>
            </a:r>
            <a:br>
              <a:rPr b="1" lang="en" sz="1100">
                <a:highlight>
                  <a:schemeClr val="dk1"/>
                </a:highlight>
                <a:latin typeface="Arial"/>
                <a:ea typeface="Arial"/>
                <a:cs typeface="Arial"/>
                <a:sym typeface="Arial"/>
              </a:rPr>
            </a:br>
            <a:endParaRPr b="1" sz="1100">
              <a:highlight>
                <a:schemeClr val="dk1"/>
              </a:highlight>
              <a:latin typeface="Arial"/>
              <a:ea typeface="Arial"/>
              <a:cs typeface="Arial"/>
              <a:sym typeface="Arial"/>
            </a:endParaRPr>
          </a:p>
          <a:p>
            <a:pPr indent="-298450" lvl="1" marL="914400" rtl="0" algn="l">
              <a:lnSpc>
                <a:spcPct val="115000"/>
              </a:lnSpc>
              <a:spcBef>
                <a:spcPts val="0"/>
              </a:spcBef>
              <a:spcAft>
                <a:spcPts val="0"/>
              </a:spcAft>
              <a:buClr>
                <a:schemeClr val="lt1"/>
              </a:buClr>
              <a:buSzPts val="1100"/>
              <a:buFont typeface="Arial"/>
              <a:buChar char="○"/>
            </a:pPr>
            <a:r>
              <a:rPr lang="en">
                <a:highlight>
                  <a:schemeClr val="dk1"/>
                </a:highlight>
                <a:latin typeface="Arial"/>
                <a:ea typeface="Arial"/>
                <a:cs typeface="Arial"/>
                <a:sym typeface="Arial"/>
              </a:rPr>
              <a:t>Used </a:t>
            </a:r>
            <a:r>
              <a:rPr b="1" lang="en">
                <a:highlight>
                  <a:schemeClr val="dk1"/>
                </a:highlight>
                <a:latin typeface="Arial"/>
                <a:ea typeface="Arial"/>
                <a:cs typeface="Arial"/>
                <a:sym typeface="Arial"/>
              </a:rPr>
              <a:t>Isolation Forest </a:t>
            </a:r>
            <a:r>
              <a:rPr lang="en">
                <a:highlight>
                  <a:schemeClr val="dk1"/>
                </a:highlight>
                <a:latin typeface="Arial"/>
                <a:ea typeface="Arial"/>
                <a:cs typeface="Arial"/>
                <a:sym typeface="Arial"/>
              </a:rPr>
              <a:t>to remove extreme fluctuations in stock prices.</a:t>
            </a:r>
            <a:endParaRPr>
              <a:highlight>
                <a:schemeClr val="dk1"/>
              </a:highlight>
              <a:latin typeface="Arial"/>
              <a:ea typeface="Arial"/>
              <a:cs typeface="Arial"/>
              <a:sym typeface="Arial"/>
            </a:endParaRPr>
          </a:p>
          <a:p>
            <a:pPr indent="-298450" lvl="1" marL="914400" rtl="0" algn="l">
              <a:lnSpc>
                <a:spcPct val="115000"/>
              </a:lnSpc>
              <a:spcBef>
                <a:spcPts val="0"/>
              </a:spcBef>
              <a:spcAft>
                <a:spcPts val="0"/>
              </a:spcAft>
              <a:buClr>
                <a:schemeClr val="lt1"/>
              </a:buClr>
              <a:buSzPts val="1100"/>
              <a:buFont typeface="Arial"/>
              <a:buChar char="○"/>
            </a:pPr>
            <a:r>
              <a:rPr lang="en">
                <a:highlight>
                  <a:schemeClr val="dk1"/>
                </a:highlight>
                <a:latin typeface="Arial"/>
                <a:ea typeface="Arial"/>
                <a:cs typeface="Arial"/>
                <a:sym typeface="Arial"/>
              </a:rPr>
              <a:t>Applied </a:t>
            </a:r>
            <a:r>
              <a:rPr b="1" lang="en">
                <a:highlight>
                  <a:schemeClr val="dk1"/>
                </a:highlight>
                <a:latin typeface="Arial"/>
                <a:ea typeface="Arial"/>
                <a:cs typeface="Arial"/>
                <a:sym typeface="Arial"/>
              </a:rPr>
              <a:t>Autoencoder-Based Anomaly Detection</a:t>
            </a:r>
            <a:r>
              <a:rPr lang="en">
                <a:highlight>
                  <a:schemeClr val="dk1"/>
                </a:highlight>
                <a:latin typeface="Arial"/>
                <a:ea typeface="Arial"/>
                <a:cs typeface="Arial"/>
                <a:sym typeface="Arial"/>
              </a:rPr>
              <a:t> to detect irregularities in time-series data.</a:t>
            </a:r>
            <a:endParaRPr>
              <a:highlight>
                <a:schemeClr val="dk1"/>
              </a:highlight>
              <a:latin typeface="Arial"/>
              <a:ea typeface="Arial"/>
              <a:cs typeface="Arial"/>
              <a:sym typeface="Arial"/>
            </a:endParaRPr>
          </a:p>
          <a:p>
            <a:pPr indent="-298450" lvl="1" marL="914400" rtl="0" algn="l">
              <a:lnSpc>
                <a:spcPct val="115000"/>
              </a:lnSpc>
              <a:spcBef>
                <a:spcPts val="0"/>
              </a:spcBef>
              <a:spcAft>
                <a:spcPts val="0"/>
              </a:spcAft>
              <a:buClr>
                <a:schemeClr val="lt1"/>
              </a:buClr>
              <a:buSzPts val="1100"/>
              <a:buFont typeface="Arial"/>
              <a:buChar char="○"/>
            </a:pPr>
            <a:r>
              <a:rPr lang="en">
                <a:highlight>
                  <a:schemeClr val="dk1"/>
                </a:highlight>
                <a:latin typeface="Arial"/>
                <a:ea typeface="Arial"/>
                <a:cs typeface="Arial"/>
                <a:sym typeface="Arial"/>
              </a:rPr>
              <a:t>Improved data quality, reducing noise and enhancing model generalization.</a:t>
            </a:r>
            <a:br>
              <a:rPr lang="en">
                <a:highlight>
                  <a:schemeClr val="dk1"/>
                </a:highlight>
                <a:latin typeface="Arial"/>
                <a:ea typeface="Arial"/>
                <a:cs typeface="Arial"/>
                <a:sym typeface="Arial"/>
              </a:rPr>
            </a:br>
            <a:endParaRPr>
              <a:highlight>
                <a:schemeClr val="dk1"/>
              </a:highlight>
              <a:latin typeface="Arial"/>
              <a:ea typeface="Arial"/>
              <a:cs typeface="Arial"/>
              <a:sym typeface="Arial"/>
            </a:endParaRPr>
          </a:p>
          <a:p>
            <a:pPr indent="-298450" lvl="0" marL="457200" rtl="0" algn="l">
              <a:lnSpc>
                <a:spcPct val="115000"/>
              </a:lnSpc>
              <a:spcBef>
                <a:spcPts val="0"/>
              </a:spcBef>
              <a:spcAft>
                <a:spcPts val="0"/>
              </a:spcAft>
              <a:buClr>
                <a:schemeClr val="lt1"/>
              </a:buClr>
              <a:buSzPts val="1100"/>
              <a:buFont typeface="Arial"/>
              <a:buAutoNum type="arabicPeriod"/>
            </a:pPr>
            <a:r>
              <a:rPr b="1" lang="en" sz="1100">
                <a:highlight>
                  <a:schemeClr val="dk1"/>
                </a:highlight>
                <a:latin typeface="Arial"/>
                <a:ea typeface="Arial"/>
                <a:cs typeface="Arial"/>
                <a:sym typeface="Arial"/>
              </a:rPr>
              <a:t>Autoencoder for Feature Extraction</a:t>
            </a:r>
            <a:br>
              <a:rPr b="1" lang="en" sz="1100">
                <a:highlight>
                  <a:schemeClr val="dk1"/>
                </a:highlight>
                <a:latin typeface="Arial"/>
                <a:ea typeface="Arial"/>
                <a:cs typeface="Arial"/>
                <a:sym typeface="Arial"/>
              </a:rPr>
            </a:br>
            <a:endParaRPr b="1" sz="1100">
              <a:highlight>
                <a:schemeClr val="dk1"/>
              </a:highlight>
              <a:latin typeface="Arial"/>
              <a:ea typeface="Arial"/>
              <a:cs typeface="Arial"/>
              <a:sym typeface="Arial"/>
            </a:endParaRPr>
          </a:p>
          <a:p>
            <a:pPr indent="-298450" lvl="1" marL="914400" rtl="0" algn="l">
              <a:lnSpc>
                <a:spcPct val="115000"/>
              </a:lnSpc>
              <a:spcBef>
                <a:spcPts val="0"/>
              </a:spcBef>
              <a:spcAft>
                <a:spcPts val="0"/>
              </a:spcAft>
              <a:buClr>
                <a:schemeClr val="lt1"/>
              </a:buClr>
              <a:buSzPts val="1100"/>
              <a:buFont typeface="Arial"/>
              <a:buChar char="○"/>
            </a:pPr>
            <a:r>
              <a:rPr lang="en">
                <a:highlight>
                  <a:schemeClr val="dk1"/>
                </a:highlight>
                <a:latin typeface="Arial"/>
                <a:ea typeface="Arial"/>
                <a:cs typeface="Arial"/>
                <a:sym typeface="Arial"/>
              </a:rPr>
              <a:t>Reduced dimensionality to </a:t>
            </a:r>
            <a:r>
              <a:rPr b="1" lang="en">
                <a:highlight>
                  <a:schemeClr val="dk1"/>
                </a:highlight>
                <a:latin typeface="Arial"/>
                <a:ea typeface="Arial"/>
                <a:cs typeface="Arial"/>
                <a:sym typeface="Arial"/>
              </a:rPr>
              <a:t>eliminate redundant features</a:t>
            </a:r>
            <a:r>
              <a:rPr lang="en">
                <a:highlight>
                  <a:schemeClr val="dk1"/>
                </a:highlight>
                <a:latin typeface="Arial"/>
                <a:ea typeface="Arial"/>
                <a:cs typeface="Arial"/>
                <a:sym typeface="Arial"/>
              </a:rPr>
              <a:t> and improve efficiency.</a:t>
            </a:r>
            <a:endParaRPr>
              <a:highlight>
                <a:schemeClr val="dk1"/>
              </a:highlight>
              <a:latin typeface="Arial"/>
              <a:ea typeface="Arial"/>
              <a:cs typeface="Arial"/>
              <a:sym typeface="Arial"/>
            </a:endParaRPr>
          </a:p>
          <a:p>
            <a:pPr indent="-298450" lvl="1" marL="914400" rtl="0" algn="l">
              <a:lnSpc>
                <a:spcPct val="115000"/>
              </a:lnSpc>
              <a:spcBef>
                <a:spcPts val="0"/>
              </a:spcBef>
              <a:spcAft>
                <a:spcPts val="0"/>
              </a:spcAft>
              <a:buClr>
                <a:schemeClr val="lt1"/>
              </a:buClr>
              <a:buSzPts val="1100"/>
              <a:buFont typeface="Arial"/>
              <a:buChar char="○"/>
            </a:pPr>
            <a:r>
              <a:rPr lang="en">
                <a:highlight>
                  <a:schemeClr val="dk1"/>
                </a:highlight>
                <a:latin typeface="Arial"/>
                <a:ea typeface="Arial"/>
                <a:cs typeface="Arial"/>
                <a:sym typeface="Arial"/>
              </a:rPr>
              <a:t>Filtered out irrelevant noise, ensuring the model focuses on meaningful stock trends.</a:t>
            </a:r>
            <a:br>
              <a:rPr lang="en">
                <a:highlight>
                  <a:schemeClr val="dk1"/>
                </a:highlight>
                <a:latin typeface="Arial"/>
                <a:ea typeface="Arial"/>
                <a:cs typeface="Arial"/>
                <a:sym typeface="Arial"/>
              </a:rPr>
            </a:br>
            <a:endParaRPr>
              <a:highlight>
                <a:schemeClr val="dk1"/>
              </a:highlight>
              <a:latin typeface="Arial"/>
              <a:ea typeface="Arial"/>
              <a:cs typeface="Arial"/>
              <a:sym typeface="Arial"/>
            </a:endParaRPr>
          </a:p>
          <a:p>
            <a:pPr indent="-298450" lvl="0" marL="457200" rtl="0" algn="l">
              <a:lnSpc>
                <a:spcPct val="115000"/>
              </a:lnSpc>
              <a:spcBef>
                <a:spcPts val="0"/>
              </a:spcBef>
              <a:spcAft>
                <a:spcPts val="0"/>
              </a:spcAft>
              <a:buClr>
                <a:schemeClr val="lt1"/>
              </a:buClr>
              <a:buSzPts val="1100"/>
              <a:buFont typeface="Arial"/>
              <a:buAutoNum type="arabicPeriod"/>
            </a:pPr>
            <a:r>
              <a:rPr b="1" lang="en" sz="1100">
                <a:highlight>
                  <a:schemeClr val="dk1"/>
                </a:highlight>
                <a:latin typeface="Arial"/>
                <a:ea typeface="Arial"/>
                <a:cs typeface="Arial"/>
                <a:sym typeface="Arial"/>
              </a:rPr>
              <a:t>Attention-Based LSTM for Temporal Learning</a:t>
            </a:r>
            <a:br>
              <a:rPr b="1" lang="en" sz="1100">
                <a:highlight>
                  <a:schemeClr val="dk1"/>
                </a:highlight>
                <a:latin typeface="Arial"/>
                <a:ea typeface="Arial"/>
                <a:cs typeface="Arial"/>
                <a:sym typeface="Arial"/>
              </a:rPr>
            </a:br>
            <a:endParaRPr b="1" sz="1100">
              <a:highlight>
                <a:schemeClr val="dk1"/>
              </a:highlight>
              <a:latin typeface="Arial"/>
              <a:ea typeface="Arial"/>
              <a:cs typeface="Arial"/>
              <a:sym typeface="Arial"/>
            </a:endParaRPr>
          </a:p>
          <a:p>
            <a:pPr indent="-298450" lvl="1" marL="914400" rtl="0" algn="l">
              <a:lnSpc>
                <a:spcPct val="115000"/>
              </a:lnSpc>
              <a:spcBef>
                <a:spcPts val="0"/>
              </a:spcBef>
              <a:spcAft>
                <a:spcPts val="0"/>
              </a:spcAft>
              <a:buClr>
                <a:schemeClr val="lt1"/>
              </a:buClr>
              <a:buSzPts val="1100"/>
              <a:buFont typeface="Arial"/>
              <a:buChar char="○"/>
            </a:pPr>
            <a:r>
              <a:rPr lang="en">
                <a:highlight>
                  <a:schemeClr val="dk1"/>
                </a:highlight>
                <a:latin typeface="Arial"/>
                <a:ea typeface="Arial"/>
                <a:cs typeface="Arial"/>
                <a:sym typeface="Arial"/>
              </a:rPr>
              <a:t>Introduced an </a:t>
            </a:r>
            <a:r>
              <a:rPr b="1" lang="en">
                <a:highlight>
                  <a:schemeClr val="dk1"/>
                </a:highlight>
                <a:latin typeface="Arial"/>
                <a:ea typeface="Arial"/>
                <a:cs typeface="Arial"/>
                <a:sym typeface="Arial"/>
              </a:rPr>
              <a:t>attention mechanism</a:t>
            </a:r>
            <a:r>
              <a:rPr lang="en">
                <a:highlight>
                  <a:schemeClr val="dk1"/>
                </a:highlight>
                <a:latin typeface="Arial"/>
                <a:ea typeface="Arial"/>
                <a:cs typeface="Arial"/>
                <a:sym typeface="Arial"/>
              </a:rPr>
              <a:t> to prioritize significant time steps.</a:t>
            </a:r>
            <a:endParaRPr>
              <a:highlight>
                <a:schemeClr val="dk1"/>
              </a:highlight>
              <a:latin typeface="Arial"/>
              <a:ea typeface="Arial"/>
              <a:cs typeface="Arial"/>
              <a:sym typeface="Arial"/>
            </a:endParaRPr>
          </a:p>
          <a:p>
            <a:pPr indent="-298450" lvl="1" marL="914400" rtl="0" algn="l">
              <a:lnSpc>
                <a:spcPct val="115000"/>
              </a:lnSpc>
              <a:spcBef>
                <a:spcPts val="0"/>
              </a:spcBef>
              <a:spcAft>
                <a:spcPts val="0"/>
              </a:spcAft>
              <a:buClr>
                <a:schemeClr val="lt1"/>
              </a:buClr>
              <a:buSzPts val="1100"/>
              <a:buFont typeface="Arial"/>
              <a:buChar char="○"/>
            </a:pPr>
            <a:r>
              <a:rPr lang="en">
                <a:highlight>
                  <a:schemeClr val="dk1"/>
                </a:highlight>
                <a:latin typeface="Arial"/>
                <a:ea typeface="Arial"/>
                <a:cs typeface="Arial"/>
                <a:sym typeface="Arial"/>
              </a:rPr>
              <a:t>Enhanced trend detection for better stock price movement predictions.</a:t>
            </a:r>
            <a:br>
              <a:rPr lang="en">
                <a:highlight>
                  <a:schemeClr val="dk1"/>
                </a:highlight>
                <a:latin typeface="Arial"/>
                <a:ea typeface="Arial"/>
                <a:cs typeface="Arial"/>
                <a:sym typeface="Arial"/>
              </a:rPr>
            </a:br>
            <a:endParaRPr>
              <a:highlight>
                <a:schemeClr val="dk1"/>
              </a:highlight>
              <a:latin typeface="Arial"/>
              <a:ea typeface="Arial"/>
              <a:cs typeface="Arial"/>
              <a:sym typeface="Arial"/>
            </a:endParaRPr>
          </a:p>
          <a:p>
            <a:pPr indent="-298450" lvl="0" marL="457200" rtl="0" algn="l">
              <a:lnSpc>
                <a:spcPct val="115000"/>
              </a:lnSpc>
              <a:spcBef>
                <a:spcPts val="0"/>
              </a:spcBef>
              <a:spcAft>
                <a:spcPts val="0"/>
              </a:spcAft>
              <a:buClr>
                <a:schemeClr val="lt1"/>
              </a:buClr>
              <a:buSzPts val="1100"/>
              <a:buFont typeface="Arial"/>
              <a:buAutoNum type="arabicPeriod"/>
            </a:pPr>
            <a:r>
              <a:rPr b="1" lang="en" sz="1100">
                <a:highlight>
                  <a:schemeClr val="dk1"/>
                </a:highlight>
                <a:latin typeface="Arial"/>
                <a:ea typeface="Arial"/>
                <a:cs typeface="Arial"/>
                <a:sym typeface="Arial"/>
              </a:rPr>
              <a:t>XGBoost for Final Prediction</a:t>
            </a:r>
            <a:br>
              <a:rPr b="1" lang="en" sz="1100">
                <a:highlight>
                  <a:schemeClr val="dk1"/>
                </a:highlight>
                <a:latin typeface="Arial"/>
                <a:ea typeface="Arial"/>
                <a:cs typeface="Arial"/>
                <a:sym typeface="Arial"/>
              </a:rPr>
            </a:br>
            <a:endParaRPr b="1" sz="1100">
              <a:highlight>
                <a:schemeClr val="dk1"/>
              </a:highlight>
              <a:latin typeface="Arial"/>
              <a:ea typeface="Arial"/>
              <a:cs typeface="Arial"/>
              <a:sym typeface="Arial"/>
            </a:endParaRPr>
          </a:p>
          <a:p>
            <a:pPr indent="-298450" lvl="1" marL="914400" rtl="0" algn="l">
              <a:lnSpc>
                <a:spcPct val="115000"/>
              </a:lnSpc>
              <a:spcBef>
                <a:spcPts val="0"/>
              </a:spcBef>
              <a:spcAft>
                <a:spcPts val="0"/>
              </a:spcAft>
              <a:buClr>
                <a:schemeClr val="lt1"/>
              </a:buClr>
              <a:buSzPts val="1100"/>
              <a:buFont typeface="Arial"/>
              <a:buChar char="○"/>
            </a:pPr>
            <a:r>
              <a:rPr lang="en">
                <a:highlight>
                  <a:schemeClr val="dk1"/>
                </a:highlight>
                <a:latin typeface="Arial"/>
                <a:ea typeface="Arial"/>
                <a:cs typeface="Arial"/>
                <a:sym typeface="Arial"/>
              </a:rPr>
              <a:t>Combined </a:t>
            </a:r>
            <a:r>
              <a:rPr b="1" lang="en">
                <a:highlight>
                  <a:schemeClr val="dk1"/>
                </a:highlight>
                <a:latin typeface="Arial"/>
                <a:ea typeface="Arial"/>
                <a:cs typeface="Arial"/>
                <a:sym typeface="Arial"/>
              </a:rPr>
              <a:t>Autoencoder and Attention-LSTM</a:t>
            </a:r>
            <a:r>
              <a:rPr lang="en">
                <a:highlight>
                  <a:schemeClr val="dk1"/>
                </a:highlight>
                <a:latin typeface="Arial"/>
                <a:ea typeface="Arial"/>
                <a:cs typeface="Arial"/>
                <a:sym typeface="Arial"/>
              </a:rPr>
              <a:t> refined features for optimal forecasting.</a:t>
            </a:r>
            <a:endParaRPr>
              <a:highlight>
                <a:schemeClr val="dk1"/>
              </a:highlight>
              <a:latin typeface="Arial"/>
              <a:ea typeface="Arial"/>
              <a:cs typeface="Arial"/>
              <a:sym typeface="Arial"/>
            </a:endParaRPr>
          </a:p>
          <a:p>
            <a:pPr indent="-298450" lvl="1" marL="914400" rtl="0" algn="l">
              <a:lnSpc>
                <a:spcPct val="115000"/>
              </a:lnSpc>
              <a:spcBef>
                <a:spcPts val="0"/>
              </a:spcBef>
              <a:spcAft>
                <a:spcPts val="0"/>
              </a:spcAft>
              <a:buClr>
                <a:schemeClr val="lt1"/>
              </a:buClr>
              <a:buSzPts val="1100"/>
              <a:buFont typeface="Arial"/>
              <a:buChar char="○"/>
            </a:pPr>
            <a:r>
              <a:rPr lang="en">
                <a:highlight>
                  <a:schemeClr val="dk1"/>
                </a:highlight>
                <a:latin typeface="Arial"/>
                <a:ea typeface="Arial"/>
                <a:cs typeface="Arial"/>
                <a:sym typeface="Arial"/>
              </a:rPr>
              <a:t>Used a </a:t>
            </a:r>
            <a:r>
              <a:rPr b="1" lang="en">
                <a:highlight>
                  <a:schemeClr val="dk1"/>
                </a:highlight>
                <a:latin typeface="Arial"/>
                <a:ea typeface="Arial"/>
                <a:cs typeface="Arial"/>
                <a:sym typeface="Arial"/>
              </a:rPr>
              <a:t>decision-tree-based approach</a:t>
            </a:r>
            <a:r>
              <a:rPr lang="en">
                <a:highlight>
                  <a:schemeClr val="dk1"/>
                </a:highlight>
                <a:latin typeface="Arial"/>
                <a:ea typeface="Arial"/>
                <a:cs typeface="Arial"/>
                <a:sym typeface="Arial"/>
              </a:rPr>
              <a:t> to maximize predictive accuracy.</a:t>
            </a:r>
            <a:endParaRPr>
              <a:highlight>
                <a:schemeClr val="dk1"/>
              </a:highlight>
              <a:latin typeface="Arial"/>
              <a:ea typeface="Arial"/>
              <a:cs typeface="Arial"/>
              <a:sym typeface="Arial"/>
            </a:endParaRPr>
          </a:p>
          <a:p>
            <a:pPr indent="0" lvl="0" marL="0" rtl="0" algn="l">
              <a:lnSpc>
                <a:spcPct val="115000"/>
              </a:lnSpc>
              <a:spcBef>
                <a:spcPts val="1200"/>
              </a:spcBef>
              <a:spcAft>
                <a:spcPts val="1200"/>
              </a:spcAft>
              <a:buSzPts val="13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7"/>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
              <a:t>RESULTS </a:t>
            </a:r>
            <a:endParaRPr/>
          </a:p>
        </p:txBody>
      </p:sp>
      <p:pic>
        <p:nvPicPr>
          <p:cNvPr id="250" name="Google Shape;250;p37"/>
          <p:cNvPicPr preferRelativeResize="0"/>
          <p:nvPr/>
        </p:nvPicPr>
        <p:blipFill rotWithShape="1">
          <a:blip r:embed="rId3">
            <a:alphaModFix/>
          </a:blip>
          <a:srcRect b="0" l="0" r="0" t="0"/>
          <a:stretch/>
        </p:blipFill>
        <p:spPr>
          <a:xfrm>
            <a:off x="1401700" y="1251125"/>
            <a:ext cx="5465575" cy="35069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8"/>
          <p:cNvSpPr txBox="1"/>
          <p:nvPr>
            <p:ph idx="1" type="body"/>
          </p:nvPr>
        </p:nvSpPr>
        <p:spPr>
          <a:xfrm>
            <a:off x="0" y="1269375"/>
            <a:ext cx="9144000" cy="29454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0"/>
              </a:spcAft>
              <a:buSzPts val="1300"/>
              <a:buNone/>
            </a:pPr>
            <a:r>
              <a:rPr lang="en"/>
              <a:t>TESLA</a:t>
            </a:r>
            <a:endParaRPr/>
          </a:p>
          <a:p>
            <a:pPr indent="0" lvl="0" marL="0" rtl="0" algn="ctr">
              <a:lnSpc>
                <a:spcPct val="115000"/>
              </a:lnSpc>
              <a:spcBef>
                <a:spcPts val="1200"/>
              </a:spcBef>
              <a:spcAft>
                <a:spcPts val="1200"/>
              </a:spcAft>
              <a:buSzPts val="1300"/>
              <a:buNone/>
            </a:pPr>
            <a:r>
              <a:t/>
            </a:r>
            <a:endParaRPr/>
          </a:p>
        </p:txBody>
      </p:sp>
      <p:sp>
        <p:nvSpPr>
          <p:cNvPr id="256" name="Google Shape;256;p38"/>
          <p:cNvSpPr txBox="1"/>
          <p:nvPr/>
        </p:nvSpPr>
        <p:spPr>
          <a:xfrm>
            <a:off x="1650900" y="3714291"/>
            <a:ext cx="1687500" cy="34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lt1"/>
                </a:solidFill>
                <a:latin typeface="Lato"/>
                <a:ea typeface="Lato"/>
                <a:cs typeface="Lato"/>
                <a:sym typeface="Lato"/>
              </a:rPr>
              <a:t>Isolation Forest</a:t>
            </a:r>
            <a:endParaRPr b="0" i="0" sz="1300" u="none" cap="none" strike="noStrike">
              <a:solidFill>
                <a:schemeClr val="lt1"/>
              </a:solidFill>
              <a:latin typeface="Lato"/>
              <a:ea typeface="Lato"/>
              <a:cs typeface="Lato"/>
              <a:sym typeface="Lato"/>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lt1"/>
              </a:solidFill>
              <a:latin typeface="Lato"/>
              <a:ea typeface="Lato"/>
              <a:cs typeface="Lato"/>
              <a:sym typeface="Lato"/>
            </a:endParaRPr>
          </a:p>
        </p:txBody>
      </p:sp>
      <p:sp>
        <p:nvSpPr>
          <p:cNvPr id="257" name="Google Shape;257;p38"/>
          <p:cNvSpPr txBox="1"/>
          <p:nvPr/>
        </p:nvSpPr>
        <p:spPr>
          <a:xfrm>
            <a:off x="6317475" y="3714291"/>
            <a:ext cx="1320600" cy="282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lt1"/>
                </a:solidFill>
                <a:latin typeface="Lato"/>
                <a:ea typeface="Lato"/>
                <a:cs typeface="Lato"/>
                <a:sym typeface="Lato"/>
              </a:rPr>
              <a:t>Autoencoder</a:t>
            </a:r>
            <a:endParaRPr b="0" i="0" sz="1300" u="none" cap="none" strike="noStrike">
              <a:solidFill>
                <a:schemeClr val="lt1"/>
              </a:solidFill>
              <a:latin typeface="Lato"/>
              <a:ea typeface="Lato"/>
              <a:cs typeface="Lato"/>
              <a:sym typeface="Lato"/>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lt1"/>
              </a:solidFill>
              <a:latin typeface="Lato"/>
              <a:ea typeface="Lato"/>
              <a:cs typeface="Lato"/>
              <a:sym typeface="Lato"/>
            </a:endParaRPr>
          </a:p>
        </p:txBody>
      </p:sp>
      <p:pic>
        <p:nvPicPr>
          <p:cNvPr id="258" name="Google Shape;258;p38"/>
          <p:cNvPicPr preferRelativeResize="0"/>
          <p:nvPr/>
        </p:nvPicPr>
        <p:blipFill rotWithShape="1">
          <a:blip r:embed="rId3">
            <a:alphaModFix/>
          </a:blip>
          <a:srcRect b="13447" l="23937" r="18407" t="38883"/>
          <a:stretch/>
        </p:blipFill>
        <p:spPr>
          <a:xfrm>
            <a:off x="5077450" y="1824900"/>
            <a:ext cx="3426574" cy="1834350"/>
          </a:xfrm>
          <a:prstGeom prst="rect">
            <a:avLst/>
          </a:prstGeom>
          <a:noFill/>
          <a:ln>
            <a:noFill/>
          </a:ln>
        </p:spPr>
      </p:pic>
      <p:pic>
        <p:nvPicPr>
          <p:cNvPr id="259" name="Google Shape;259;p38"/>
          <p:cNvPicPr preferRelativeResize="0"/>
          <p:nvPr/>
        </p:nvPicPr>
        <p:blipFill rotWithShape="1">
          <a:blip r:embed="rId4">
            <a:alphaModFix/>
          </a:blip>
          <a:srcRect b="22176" l="24092" r="18256" t="28630"/>
          <a:stretch/>
        </p:blipFill>
        <p:spPr>
          <a:xfrm>
            <a:off x="634588" y="1795575"/>
            <a:ext cx="3426574" cy="18930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9"/>
          <p:cNvSpPr txBox="1"/>
          <p:nvPr>
            <p:ph idx="1" type="body"/>
          </p:nvPr>
        </p:nvSpPr>
        <p:spPr>
          <a:xfrm>
            <a:off x="0" y="1269375"/>
            <a:ext cx="9144000" cy="29454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0"/>
              </a:spcAft>
              <a:buSzPts val="1300"/>
              <a:buNone/>
            </a:pPr>
            <a:r>
              <a:rPr lang="en"/>
              <a:t>TESLA</a:t>
            </a:r>
            <a:endParaRPr/>
          </a:p>
          <a:p>
            <a:pPr indent="0" lvl="0" marL="0" rtl="0" algn="ctr">
              <a:lnSpc>
                <a:spcPct val="115000"/>
              </a:lnSpc>
              <a:spcBef>
                <a:spcPts val="1200"/>
              </a:spcBef>
              <a:spcAft>
                <a:spcPts val="1200"/>
              </a:spcAft>
              <a:buSzPts val="1300"/>
              <a:buNone/>
            </a:pPr>
            <a:r>
              <a:t/>
            </a:r>
            <a:endParaRPr/>
          </a:p>
        </p:txBody>
      </p:sp>
      <p:sp>
        <p:nvSpPr>
          <p:cNvPr id="265" name="Google Shape;265;p39"/>
          <p:cNvSpPr txBox="1"/>
          <p:nvPr/>
        </p:nvSpPr>
        <p:spPr>
          <a:xfrm>
            <a:off x="1650900" y="3714291"/>
            <a:ext cx="1687500" cy="34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chemeClr val="lt1"/>
                </a:solidFill>
                <a:highlight>
                  <a:schemeClr val="dk1"/>
                </a:highlight>
                <a:latin typeface="Arial"/>
                <a:ea typeface="Arial"/>
                <a:cs typeface="Arial"/>
                <a:sym typeface="Arial"/>
              </a:rPr>
              <a:t>Hybrid Model - LSTM, XGBoost</a:t>
            </a:r>
            <a:r>
              <a:rPr b="0" i="0" lang="en" sz="1100" u="none" cap="none" strike="noStrike">
                <a:solidFill>
                  <a:srgbClr val="000000"/>
                </a:solidFill>
                <a:latin typeface="Arial"/>
                <a:ea typeface="Arial"/>
                <a:cs typeface="Arial"/>
                <a:sym typeface="Arial"/>
              </a:rPr>
              <a:t> </a:t>
            </a:r>
            <a:endParaRPr b="0" i="0" sz="1300" u="none" cap="none" strike="noStrike">
              <a:solidFill>
                <a:schemeClr val="lt1"/>
              </a:solidFill>
              <a:latin typeface="Lato"/>
              <a:ea typeface="Lato"/>
              <a:cs typeface="Lato"/>
              <a:sym typeface="Lato"/>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lt1"/>
              </a:solidFill>
              <a:latin typeface="Lato"/>
              <a:ea typeface="Lato"/>
              <a:cs typeface="Lato"/>
              <a:sym typeface="Lato"/>
            </a:endParaRPr>
          </a:p>
        </p:txBody>
      </p:sp>
      <p:sp>
        <p:nvSpPr>
          <p:cNvPr id="266" name="Google Shape;266;p39"/>
          <p:cNvSpPr txBox="1"/>
          <p:nvPr/>
        </p:nvSpPr>
        <p:spPr>
          <a:xfrm>
            <a:off x="6317475" y="3714300"/>
            <a:ext cx="1939800" cy="437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100"/>
              <a:buFont typeface="Arial"/>
              <a:buNone/>
            </a:pPr>
            <a:r>
              <a:rPr b="1" i="0" lang="en" sz="1100" u="none" cap="none" strike="noStrike">
                <a:solidFill>
                  <a:schemeClr val="lt1"/>
                </a:solidFill>
                <a:highlight>
                  <a:schemeClr val="dk1"/>
                </a:highlight>
                <a:latin typeface="Arial"/>
                <a:ea typeface="Arial"/>
                <a:cs typeface="Arial"/>
                <a:sym typeface="Arial"/>
              </a:rPr>
              <a:t>Hybrid Model  - Anomaly Detection, Attention-LSTM,                  XGBoost  </a:t>
            </a:r>
            <a:endParaRPr b="0" i="0" sz="1400" u="none" cap="none" strike="noStrike">
              <a:solidFill>
                <a:srgbClr val="000000"/>
              </a:solidFill>
              <a:latin typeface="Arial"/>
              <a:ea typeface="Arial"/>
              <a:cs typeface="Arial"/>
              <a:sym typeface="Arial"/>
            </a:endParaRPr>
          </a:p>
        </p:txBody>
      </p:sp>
      <p:pic>
        <p:nvPicPr>
          <p:cNvPr id="267" name="Google Shape;267;p39"/>
          <p:cNvPicPr preferRelativeResize="0"/>
          <p:nvPr/>
        </p:nvPicPr>
        <p:blipFill rotWithShape="1">
          <a:blip r:embed="rId3">
            <a:alphaModFix/>
          </a:blip>
          <a:srcRect b="22353" l="23978" r="18367" t="30357"/>
          <a:stretch/>
        </p:blipFill>
        <p:spPr>
          <a:xfrm>
            <a:off x="689750" y="1808825"/>
            <a:ext cx="3426574" cy="1819675"/>
          </a:xfrm>
          <a:prstGeom prst="rect">
            <a:avLst/>
          </a:prstGeom>
          <a:noFill/>
          <a:ln>
            <a:noFill/>
          </a:ln>
        </p:spPr>
      </p:pic>
      <p:pic>
        <p:nvPicPr>
          <p:cNvPr id="268" name="Google Shape;268;p39"/>
          <p:cNvPicPr preferRelativeResize="0"/>
          <p:nvPr/>
        </p:nvPicPr>
        <p:blipFill rotWithShape="1">
          <a:blip r:embed="rId4">
            <a:alphaModFix/>
          </a:blip>
          <a:srcRect b="14681" l="24006" r="18338" t="36506"/>
          <a:stretch/>
        </p:blipFill>
        <p:spPr>
          <a:xfrm>
            <a:off x="5018750" y="1779475"/>
            <a:ext cx="3426574" cy="1878375"/>
          </a:xfrm>
          <a:prstGeom prst="rect">
            <a:avLst/>
          </a:prstGeom>
          <a:noFill/>
          <a:ln>
            <a:noFill/>
          </a:ln>
        </p:spPr>
      </p:pic>
      <p:pic>
        <p:nvPicPr>
          <p:cNvPr id="269" name="Google Shape;269;p39"/>
          <p:cNvPicPr preferRelativeResize="0"/>
          <p:nvPr/>
        </p:nvPicPr>
        <p:blipFill rotWithShape="1">
          <a:blip r:embed="rId5">
            <a:alphaModFix/>
          </a:blip>
          <a:srcRect b="0" l="0" r="0" t="0"/>
          <a:stretch/>
        </p:blipFill>
        <p:spPr>
          <a:xfrm>
            <a:off x="572350" y="1690834"/>
            <a:ext cx="3962575" cy="2000341"/>
          </a:xfrm>
          <a:prstGeom prst="rect">
            <a:avLst/>
          </a:prstGeom>
          <a:noFill/>
          <a:ln>
            <a:noFill/>
          </a:ln>
        </p:spPr>
      </p:pic>
      <p:pic>
        <p:nvPicPr>
          <p:cNvPr id="270" name="Google Shape;270;p39"/>
          <p:cNvPicPr preferRelativeResize="0"/>
          <p:nvPr/>
        </p:nvPicPr>
        <p:blipFill rotWithShape="1">
          <a:blip r:embed="rId6">
            <a:alphaModFix/>
          </a:blip>
          <a:srcRect b="0" l="0" r="0" t="0"/>
          <a:stretch/>
        </p:blipFill>
        <p:spPr>
          <a:xfrm>
            <a:off x="4943125" y="1690825"/>
            <a:ext cx="4027875" cy="20556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0"/>
          <p:cNvSpPr txBox="1"/>
          <p:nvPr>
            <p:ph idx="1" type="body"/>
          </p:nvPr>
        </p:nvSpPr>
        <p:spPr>
          <a:xfrm>
            <a:off x="1297500" y="135060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aim of this research was to predict the stock prices for the largest tech companies utilizing company financials and traditional economy signals  as Input.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study examined a new hybrid model  which integrated anomaly detection methodology to improve the robustness of the model. The experimental results were very strong in all situations. The hybrid model predicted the stock prices for Google with R2 scores of .97, Apple - .99, Tesla - .97, and Nvidia -.96 , Amazon - 0.90.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results were in addition to historical LSTM models, the inputs also produced lower RMSE and MAE metrics, as well as providing an economic rationale and therefore the capability of recognizing complex market behaviour.</a:t>
            </a:r>
            <a:endParaRPr/>
          </a:p>
          <a:p>
            <a:pPr indent="0" lvl="0" marL="0" rtl="0" algn="l">
              <a:spcBef>
                <a:spcPts val="0"/>
              </a:spcBef>
              <a:spcAft>
                <a:spcPts val="0"/>
              </a:spcAft>
              <a:buNone/>
            </a:pPr>
            <a:r>
              <a:t/>
            </a:r>
            <a:endParaRPr/>
          </a:p>
        </p:txBody>
      </p:sp>
      <p:sp>
        <p:nvSpPr>
          <p:cNvPr id="276" name="Google Shape;276;p4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Conclusion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1"/>
          <p:cNvSpPr txBox="1"/>
          <p:nvPr>
            <p:ph idx="1" type="body"/>
          </p:nvPr>
        </p:nvSpPr>
        <p:spPr>
          <a:xfrm>
            <a:off x="1297500" y="127220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br>
              <a:rPr lang="en"/>
            </a:br>
            <a:r>
              <a:rPr b="1" lang="en"/>
              <a:t>Multimodal Data</a:t>
            </a:r>
            <a:r>
              <a:rPr lang="en"/>
              <a:t>: Integrate more technical metrics (MACD, Bollinger Bands) , financial reports, economic signals, and social media insights for a fuller market view.</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Real-Time Prediction</a:t>
            </a:r>
            <a:r>
              <a:rPr lang="en"/>
              <a:t>: Enhance the model to make live predictions using streaming data.</a:t>
            </a:r>
            <a:endParaRPr/>
          </a:p>
        </p:txBody>
      </p:sp>
      <p:sp>
        <p:nvSpPr>
          <p:cNvPr id="282" name="Google Shape;282;p4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Future Work</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2"/>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10500"/>
              <a:t>Thank you</a:t>
            </a:r>
            <a:r>
              <a:rPr lang="en" sz="7200"/>
              <a:t> </a:t>
            </a:r>
            <a:endParaRPr sz="7200"/>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